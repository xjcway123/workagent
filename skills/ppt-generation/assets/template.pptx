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3152" cy="685800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2026 年 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</a:rPr>
              <a:t>业务进展汇报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9FCB"/>
                </a:solidFill>
                <a:latin typeface="微软雅黑"/>
              </a:rPr>
              <a:t>—— 关键指标 / 阶段成果 / 下季规划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汇报人: 张三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</a:rP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93764"/>
                </a:solidFill>
                <a:latin typeface="微软雅黑"/>
              </a:rPr>
              <a:t>目录 /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4A70AE"/>
                </a:solidFill>
                <a:latin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2763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/>
              </a:rPr>
              <a:t>本季关键指标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66420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微软雅黑"/>
              </a:rPr>
              <a:t>P.3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10607040" cy="9525"/>
          </a:xfrm>
          <a:prstGeom prst="rect">
            <a:avLst/>
          </a:prstGeom>
          <a:solidFill>
            <a:srgbClr val="6E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4A70AE"/>
                </a:solidFill>
                <a:latin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9631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/>
              </a:rPr>
              <a:t>重点业务进展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53288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微软雅黑"/>
              </a:rPr>
              <a:t>P.4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063240"/>
            <a:ext cx="10607040" cy="9525"/>
          </a:xfrm>
          <a:prstGeom prst="rect">
            <a:avLst/>
          </a:prstGeom>
          <a:solidFill>
            <a:srgbClr val="6E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4A70AE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36499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/>
              </a:rPr>
              <a:t>风险与应对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401568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微软雅黑"/>
              </a:rPr>
              <a:t>P.5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31920"/>
            <a:ext cx="10607040" cy="9525"/>
          </a:xfrm>
          <a:prstGeom prst="rect">
            <a:avLst/>
          </a:prstGeom>
          <a:solidFill>
            <a:srgbClr val="6E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19"/>
            <a:ext cx="1097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4A70AE"/>
                </a:solidFill>
                <a:latin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33671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1F1F1F"/>
                </a:solidFill>
                <a:latin typeface="微软雅黑"/>
              </a:rPr>
              <a:t>下季规划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4270247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>
                <a:solidFill>
                  <a:srgbClr val="808080"/>
                </a:solidFill>
                <a:latin typeface="微软雅黑"/>
              </a:rPr>
              <a:t>P.6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800599"/>
            <a:ext cx="10607040" cy="9525"/>
          </a:xfrm>
          <a:prstGeom prst="rect">
            <a:avLst/>
          </a:prstGeom>
          <a:solidFill>
            <a:srgbClr val="6E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示例商务汇报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0" b="1">
                <a:solidFill>
                  <a:srgbClr val="4A70AE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/>
              </a:rPr>
              <a:t>本季关键指标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26280"/>
            <a:ext cx="548640" cy="28575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E9FCB"/>
                </a:solidFill>
                <a:latin typeface="Arial"/>
              </a:rPr>
              <a:t>Key Metrics This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93764"/>
                </a:solidFill>
                <a:latin typeface="微软雅黑"/>
              </a:rPr>
              <a:t>01  本季关键指标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微软雅黑"/>
              </a:rPr>
              <a:t>整体保持稳健增长, 营收超额完成 12%, 新客转化率创新高。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146304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38100" cy="14630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微软雅黑"/>
              </a:rPr>
              <a:t>营收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3764"/>
                </a:solidFill>
                <a:latin typeface="Arial"/>
              </a:rPr>
              <a:t>1.28 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70AE"/>
                </a:solidFill>
                <a:latin typeface="Arial"/>
              </a:rPr>
              <a:t>+12.4% 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657600" cy="146304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8100" cy="14630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微软雅黑"/>
              </a:rPr>
              <a:t>新客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3764"/>
                </a:solidFill>
                <a:latin typeface="Arial"/>
              </a:rPr>
              <a:t>1,847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70AE"/>
                </a:solidFill>
                <a:latin typeface="Arial"/>
              </a:rPr>
              <a:t>+27.6% 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657600" cy="146304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8100" cy="14630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微软雅黑"/>
              </a:rPr>
              <a:t>复购率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93764"/>
                </a:solidFill>
                <a:latin typeface="Arial"/>
              </a:rPr>
              <a:t>63.2%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A70AE"/>
                </a:solidFill>
                <a:latin typeface="Arial"/>
              </a:rPr>
              <a:t>+4.1pp YoY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93764"/>
                </a:solidFill>
                <a:latin typeface="微软雅黑"/>
              </a:rPr>
              <a:t>关键解读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44568"/>
            <a:ext cx="91440" cy="914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B 端合同金额同比增长 35%, 拉动整体客单价提升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01768"/>
            <a:ext cx="91440" cy="914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新增 4 个行业大客户, 集中在金融与制造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58968"/>
            <a:ext cx="91440" cy="91440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海外试点 (东南亚 3 国) 营收占比首次突破 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示例商务汇报 ·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93764"/>
                </a:solidFill>
                <a:latin typeface="微软雅黑"/>
              </a:rPr>
              <a:t>02  重点业务进展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08080"/>
                </a:solidFill>
                <a:latin typeface="微软雅黑"/>
              </a:rPr>
              <a:t>各产品线 Q2 表现, 数字为环比变化。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743200" cy="4572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产品线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920240"/>
            <a:ext cx="2743200" cy="4572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营收(百万)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20240"/>
            <a:ext cx="2286000" cy="4572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环比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920240"/>
            <a:ext cx="3291840" cy="4572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产品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4688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428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377440"/>
            <a:ext cx="22860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4688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+8.2%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377440"/>
            <a:ext cx="329184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稳健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346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26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产品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8346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2926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316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8346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+21.5%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83464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超预期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918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产品 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2918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3832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195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291840"/>
            <a:ext cx="22860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3832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-3.1%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29184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需关注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7490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40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产品 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374904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38404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108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7490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8404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+15.7%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374904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稳健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297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微软雅黑"/>
              </a:rPr>
              <a:t>服务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206240"/>
            <a:ext cx="27432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4297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233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4206240"/>
            <a:ext cx="228600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297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+11.0%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4206240"/>
            <a:ext cx="3291840" cy="457200"/>
          </a:xfrm>
          <a:prstGeom prst="rect">
            <a:avLst/>
          </a:prstGeom>
          <a:solidFill>
            <a:srgbClr val="F2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42976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1F1F"/>
                </a:solidFill>
                <a:latin typeface="微软雅黑"/>
              </a:rPr>
              <a:t>稳健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微软雅黑"/>
              </a:rPr>
              <a:t>示例商务汇报 ·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微软雅黑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4A7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6E9FCB"/>
                </a:solidFill>
                <a:latin typeface="Arial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E9FCB"/>
                </a:solidFill>
                <a:latin typeface="微软雅黑"/>
              </a:rPr>
              <a:t>汇报人: 张三  ·  zhangsan@example.com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