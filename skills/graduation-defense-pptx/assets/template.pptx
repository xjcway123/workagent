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heme/theme2.xml" ContentType="application/vnd.openxmlformats-officedocument.theme+xml"/>
  <Override PartName="/ppt/tags/tag234.xml" ContentType="application/vnd.openxmlformats-officedocument.presentationml.tags+xml"/>
  <Override PartName="/ppt/notesSlides/notesSlide1.xml" ContentType="application/vnd.openxmlformats-officedocument.presentationml.notesSlide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notesSlides/notesSlide4.xml" ContentType="application/vnd.openxmlformats-officedocument.presentationml.notesSlide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notesSlides/notesSlide5.xml" ContentType="application/vnd.openxmlformats-officedocument.presentationml.notesSlide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notesSlides/notesSlide6.xml" ContentType="application/vnd.openxmlformats-officedocument.presentationml.notesSlide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notesSlides/notesSlide7.xml" ContentType="application/vnd.openxmlformats-officedocument.presentationml.notesSlide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notesSlides/notesSlide8.xml" ContentType="application/vnd.openxmlformats-officedocument.presentationml.notesSlide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notesSlides/notesSlide9.xml" ContentType="application/vnd.openxmlformats-officedocument.presentationml.notesSlide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notesSlides/notesSlide10.xml" ContentType="application/vnd.openxmlformats-officedocument.presentationml.notesSlide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notesSlides/notesSlide11.xml" ContentType="application/vnd.openxmlformats-officedocument.presentationml.notesSlide+xml"/>
  <Override PartName="/ppt/tags/tag316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17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318.xml" ContentType="application/vnd.openxmlformats-officedocument.presentationml.tags+xml"/>
  <Override PartName="/ppt/notesSlides/notesSlide16.xml" ContentType="application/vnd.openxmlformats-officedocument.presentationml.notesSlide+xml"/>
  <Override PartName="/ppt/tags/tag319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369" r:id="rId2"/>
    <p:sldId id="257" r:id="rId3"/>
    <p:sldId id="315" r:id="rId4"/>
    <p:sldId id="276" r:id="rId5"/>
    <p:sldId id="353" r:id="rId6"/>
    <p:sldId id="358" r:id="rId7"/>
    <p:sldId id="316" r:id="rId8"/>
    <p:sldId id="268" r:id="rId9"/>
    <p:sldId id="265" r:id="rId10"/>
    <p:sldId id="359" r:id="rId11"/>
    <p:sldId id="368" r:id="rId12"/>
    <p:sldId id="362" r:id="rId13"/>
    <p:sldId id="324" r:id="rId14"/>
    <p:sldId id="365" r:id="rId15"/>
    <p:sldId id="364" r:id="rId16"/>
    <p:sldId id="361" r:id="rId17"/>
    <p:sldId id="363" r:id="rId18"/>
    <p:sldId id="370" r:id="rId19"/>
    <p:sldId id="371" r:id="rId20"/>
    <p:sldId id="372" r:id="rId21"/>
    <p:sldId id="337" r:id="rId22"/>
    <p:sldId id="339" r:id="rId23"/>
    <p:sldId id="373" r:id="rId24"/>
    <p:sldId id="374" r:id="rId25"/>
    <p:sldId id="395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5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4A70AE"/>
    <a:srgbClr val="293764"/>
    <a:srgbClr val="653E2F"/>
    <a:srgbClr val="578A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14" autoAdjust="0"/>
    <p:restoredTop sz="85382" autoAdjust="0"/>
  </p:normalViewPr>
  <p:slideViewPr>
    <p:cSldViewPr snapToGrid="0" showGuides="1">
      <p:cViewPr varScale="1">
        <p:scale>
          <a:sx n="74" d="100"/>
          <a:sy n="74" d="100"/>
        </p:scale>
        <p:origin x="846" y="55"/>
      </p:cViewPr>
      <p:guideLst>
        <p:guide orient="horz" pos="2055"/>
        <p:guide pos="38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7" d="100"/>
        <a:sy n="57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A5639-D7F5-4297-A76F-1152FE0062DA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4039C-FEDC-436D-9552-8F74018335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背景少讲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2EB20A-403F-44E9-9F40-29DD8395CE08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2EB20A-403F-44E9-9F40-29DD8395CE08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用中文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7CBE41-6C63-4A16-873F-5A51AEDA08C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869645-561F-47F0-9357-72E27DD8C3BF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869645-561F-47F0-9357-72E27DD8C3BF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869645-561F-47F0-9357-72E27DD8C3BF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图用中文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869645-561F-47F0-9357-72E27DD8C3BF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869645-561F-47F0-9357-72E27DD8C3BF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英文写成中文，</a:t>
            </a:r>
            <a:r>
              <a:rPr lang="en-US" altLang="zh-CN"/>
              <a:t>pycharm</a:t>
            </a:r>
            <a:r>
              <a:rPr lang="zh-CN" altLang="en-US"/>
              <a:t>写对了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2EB20A-403F-44E9-9F40-29DD8395CE08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2EB20A-403F-44E9-9F40-29DD8395CE08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6" Type="http://schemas.openxmlformats.org/officeDocument/2006/relationships/tags" Target="../tags/tag27.xml"/><Relationship Id="rId117" Type="http://schemas.openxmlformats.org/officeDocument/2006/relationships/slideMaster" Target="../slideMasters/slideMaster1.xml"/><Relationship Id="rId21" Type="http://schemas.openxmlformats.org/officeDocument/2006/relationships/tags" Target="../tags/tag22.xml"/><Relationship Id="rId42" Type="http://schemas.openxmlformats.org/officeDocument/2006/relationships/tags" Target="../tags/tag43.xml"/><Relationship Id="rId47" Type="http://schemas.openxmlformats.org/officeDocument/2006/relationships/tags" Target="../tags/tag48.xml"/><Relationship Id="rId63" Type="http://schemas.openxmlformats.org/officeDocument/2006/relationships/tags" Target="../tags/tag64.xml"/><Relationship Id="rId68" Type="http://schemas.openxmlformats.org/officeDocument/2006/relationships/tags" Target="../tags/tag69.xml"/><Relationship Id="rId84" Type="http://schemas.openxmlformats.org/officeDocument/2006/relationships/tags" Target="../tags/tag85.xml"/><Relationship Id="rId89" Type="http://schemas.openxmlformats.org/officeDocument/2006/relationships/tags" Target="../tags/tag90.xml"/><Relationship Id="rId112" Type="http://schemas.openxmlformats.org/officeDocument/2006/relationships/tags" Target="../tags/tag113.xml"/><Relationship Id="rId16" Type="http://schemas.openxmlformats.org/officeDocument/2006/relationships/tags" Target="../tags/tag17.xml"/><Relationship Id="rId107" Type="http://schemas.openxmlformats.org/officeDocument/2006/relationships/tags" Target="../tags/tag108.xml"/><Relationship Id="rId11" Type="http://schemas.openxmlformats.org/officeDocument/2006/relationships/tags" Target="../tags/tag12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53" Type="http://schemas.openxmlformats.org/officeDocument/2006/relationships/tags" Target="../tags/tag54.xml"/><Relationship Id="rId58" Type="http://schemas.openxmlformats.org/officeDocument/2006/relationships/tags" Target="../tags/tag59.xml"/><Relationship Id="rId74" Type="http://schemas.openxmlformats.org/officeDocument/2006/relationships/tags" Target="../tags/tag75.xml"/><Relationship Id="rId79" Type="http://schemas.openxmlformats.org/officeDocument/2006/relationships/tags" Target="../tags/tag80.xml"/><Relationship Id="rId102" Type="http://schemas.openxmlformats.org/officeDocument/2006/relationships/tags" Target="../tags/tag103.xml"/><Relationship Id="rId5" Type="http://schemas.openxmlformats.org/officeDocument/2006/relationships/tags" Target="../tags/tag6.xml"/><Relationship Id="rId90" Type="http://schemas.openxmlformats.org/officeDocument/2006/relationships/tags" Target="../tags/tag91.xml"/><Relationship Id="rId95" Type="http://schemas.openxmlformats.org/officeDocument/2006/relationships/tags" Target="../tags/tag96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43" Type="http://schemas.openxmlformats.org/officeDocument/2006/relationships/tags" Target="../tags/tag44.xml"/><Relationship Id="rId48" Type="http://schemas.openxmlformats.org/officeDocument/2006/relationships/tags" Target="../tags/tag49.xml"/><Relationship Id="rId64" Type="http://schemas.openxmlformats.org/officeDocument/2006/relationships/tags" Target="../tags/tag65.xml"/><Relationship Id="rId69" Type="http://schemas.openxmlformats.org/officeDocument/2006/relationships/tags" Target="../tags/tag70.xml"/><Relationship Id="rId113" Type="http://schemas.openxmlformats.org/officeDocument/2006/relationships/tags" Target="../tags/tag114.xml"/><Relationship Id="rId118" Type="http://schemas.openxmlformats.org/officeDocument/2006/relationships/image" Target="../media/image2.png"/><Relationship Id="rId80" Type="http://schemas.openxmlformats.org/officeDocument/2006/relationships/tags" Target="../tags/tag81.xml"/><Relationship Id="rId85" Type="http://schemas.openxmlformats.org/officeDocument/2006/relationships/tags" Target="../tags/tag86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33" Type="http://schemas.openxmlformats.org/officeDocument/2006/relationships/tags" Target="../tags/tag34.xml"/><Relationship Id="rId38" Type="http://schemas.openxmlformats.org/officeDocument/2006/relationships/tags" Target="../tags/tag39.xml"/><Relationship Id="rId59" Type="http://schemas.openxmlformats.org/officeDocument/2006/relationships/tags" Target="../tags/tag60.xml"/><Relationship Id="rId103" Type="http://schemas.openxmlformats.org/officeDocument/2006/relationships/tags" Target="../tags/tag104.xml"/><Relationship Id="rId108" Type="http://schemas.openxmlformats.org/officeDocument/2006/relationships/tags" Target="../tags/tag109.xml"/><Relationship Id="rId54" Type="http://schemas.openxmlformats.org/officeDocument/2006/relationships/tags" Target="../tags/tag55.xml"/><Relationship Id="rId70" Type="http://schemas.openxmlformats.org/officeDocument/2006/relationships/tags" Target="../tags/tag71.xml"/><Relationship Id="rId75" Type="http://schemas.openxmlformats.org/officeDocument/2006/relationships/tags" Target="../tags/tag76.xml"/><Relationship Id="rId91" Type="http://schemas.openxmlformats.org/officeDocument/2006/relationships/tags" Target="../tags/tag92.xml"/><Relationship Id="rId96" Type="http://schemas.openxmlformats.org/officeDocument/2006/relationships/tags" Target="../tags/tag9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49" Type="http://schemas.openxmlformats.org/officeDocument/2006/relationships/tags" Target="../tags/tag50.xml"/><Relationship Id="rId114" Type="http://schemas.openxmlformats.org/officeDocument/2006/relationships/tags" Target="../tags/tag115.xml"/><Relationship Id="rId119" Type="http://schemas.openxmlformats.org/officeDocument/2006/relationships/image" Target="../media/image3.png"/><Relationship Id="rId10" Type="http://schemas.openxmlformats.org/officeDocument/2006/relationships/tags" Target="../tags/tag11.xml"/><Relationship Id="rId31" Type="http://schemas.openxmlformats.org/officeDocument/2006/relationships/tags" Target="../tags/tag32.xml"/><Relationship Id="rId44" Type="http://schemas.openxmlformats.org/officeDocument/2006/relationships/tags" Target="../tags/tag45.xml"/><Relationship Id="rId52" Type="http://schemas.openxmlformats.org/officeDocument/2006/relationships/tags" Target="../tags/tag53.xml"/><Relationship Id="rId60" Type="http://schemas.openxmlformats.org/officeDocument/2006/relationships/tags" Target="../tags/tag61.xml"/><Relationship Id="rId65" Type="http://schemas.openxmlformats.org/officeDocument/2006/relationships/tags" Target="../tags/tag66.xml"/><Relationship Id="rId73" Type="http://schemas.openxmlformats.org/officeDocument/2006/relationships/tags" Target="../tags/tag74.xml"/><Relationship Id="rId78" Type="http://schemas.openxmlformats.org/officeDocument/2006/relationships/tags" Target="../tags/tag79.xml"/><Relationship Id="rId81" Type="http://schemas.openxmlformats.org/officeDocument/2006/relationships/tags" Target="../tags/tag82.xml"/><Relationship Id="rId86" Type="http://schemas.openxmlformats.org/officeDocument/2006/relationships/tags" Target="../tags/tag87.xml"/><Relationship Id="rId94" Type="http://schemas.openxmlformats.org/officeDocument/2006/relationships/tags" Target="../tags/tag95.xml"/><Relationship Id="rId99" Type="http://schemas.openxmlformats.org/officeDocument/2006/relationships/tags" Target="../tags/tag100.xml"/><Relationship Id="rId101" Type="http://schemas.openxmlformats.org/officeDocument/2006/relationships/tags" Target="../tags/tag10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9" Type="http://schemas.openxmlformats.org/officeDocument/2006/relationships/tags" Target="../tags/tag40.xml"/><Relationship Id="rId109" Type="http://schemas.openxmlformats.org/officeDocument/2006/relationships/tags" Target="../tags/tag110.xml"/><Relationship Id="rId34" Type="http://schemas.openxmlformats.org/officeDocument/2006/relationships/tags" Target="../tags/tag35.xml"/><Relationship Id="rId50" Type="http://schemas.openxmlformats.org/officeDocument/2006/relationships/tags" Target="../tags/tag51.xml"/><Relationship Id="rId55" Type="http://schemas.openxmlformats.org/officeDocument/2006/relationships/tags" Target="../tags/tag56.xml"/><Relationship Id="rId76" Type="http://schemas.openxmlformats.org/officeDocument/2006/relationships/tags" Target="../tags/tag77.xml"/><Relationship Id="rId97" Type="http://schemas.openxmlformats.org/officeDocument/2006/relationships/tags" Target="../tags/tag98.xml"/><Relationship Id="rId104" Type="http://schemas.openxmlformats.org/officeDocument/2006/relationships/tags" Target="../tags/tag105.xml"/><Relationship Id="rId7" Type="http://schemas.openxmlformats.org/officeDocument/2006/relationships/tags" Target="../tags/tag8.xml"/><Relationship Id="rId71" Type="http://schemas.openxmlformats.org/officeDocument/2006/relationships/tags" Target="../tags/tag72.xml"/><Relationship Id="rId92" Type="http://schemas.openxmlformats.org/officeDocument/2006/relationships/tags" Target="../tags/tag93.xml"/><Relationship Id="rId2" Type="http://schemas.openxmlformats.org/officeDocument/2006/relationships/tags" Target="../tags/tag3.xml"/><Relationship Id="rId29" Type="http://schemas.openxmlformats.org/officeDocument/2006/relationships/tags" Target="../tags/tag30.xml"/><Relationship Id="rId24" Type="http://schemas.openxmlformats.org/officeDocument/2006/relationships/tags" Target="../tags/tag25.xml"/><Relationship Id="rId40" Type="http://schemas.openxmlformats.org/officeDocument/2006/relationships/tags" Target="../tags/tag41.xml"/><Relationship Id="rId45" Type="http://schemas.openxmlformats.org/officeDocument/2006/relationships/tags" Target="../tags/tag46.xml"/><Relationship Id="rId66" Type="http://schemas.openxmlformats.org/officeDocument/2006/relationships/tags" Target="../tags/tag67.xml"/><Relationship Id="rId87" Type="http://schemas.openxmlformats.org/officeDocument/2006/relationships/tags" Target="../tags/tag88.xml"/><Relationship Id="rId110" Type="http://schemas.openxmlformats.org/officeDocument/2006/relationships/tags" Target="../tags/tag111.xml"/><Relationship Id="rId115" Type="http://schemas.openxmlformats.org/officeDocument/2006/relationships/tags" Target="../tags/tag116.xml"/><Relationship Id="rId61" Type="http://schemas.openxmlformats.org/officeDocument/2006/relationships/tags" Target="../tags/tag62.xml"/><Relationship Id="rId82" Type="http://schemas.openxmlformats.org/officeDocument/2006/relationships/tags" Target="../tags/tag83.xml"/><Relationship Id="rId19" Type="http://schemas.openxmlformats.org/officeDocument/2006/relationships/tags" Target="../tags/tag20.xml"/><Relationship Id="rId14" Type="http://schemas.openxmlformats.org/officeDocument/2006/relationships/tags" Target="../tags/tag15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56" Type="http://schemas.openxmlformats.org/officeDocument/2006/relationships/tags" Target="../tags/tag57.xml"/><Relationship Id="rId77" Type="http://schemas.openxmlformats.org/officeDocument/2006/relationships/tags" Target="../tags/tag78.xml"/><Relationship Id="rId100" Type="http://schemas.openxmlformats.org/officeDocument/2006/relationships/tags" Target="../tags/tag101.xml"/><Relationship Id="rId105" Type="http://schemas.openxmlformats.org/officeDocument/2006/relationships/tags" Target="../tags/tag106.xml"/><Relationship Id="rId8" Type="http://schemas.openxmlformats.org/officeDocument/2006/relationships/tags" Target="../tags/tag9.xml"/><Relationship Id="rId51" Type="http://schemas.openxmlformats.org/officeDocument/2006/relationships/tags" Target="../tags/tag52.xml"/><Relationship Id="rId72" Type="http://schemas.openxmlformats.org/officeDocument/2006/relationships/tags" Target="../tags/tag73.xml"/><Relationship Id="rId93" Type="http://schemas.openxmlformats.org/officeDocument/2006/relationships/tags" Target="../tags/tag94.xml"/><Relationship Id="rId98" Type="http://schemas.openxmlformats.org/officeDocument/2006/relationships/tags" Target="../tags/tag99.xml"/><Relationship Id="rId3" Type="http://schemas.openxmlformats.org/officeDocument/2006/relationships/tags" Target="../tags/tag4.xml"/><Relationship Id="rId25" Type="http://schemas.openxmlformats.org/officeDocument/2006/relationships/tags" Target="../tags/tag26.xml"/><Relationship Id="rId46" Type="http://schemas.openxmlformats.org/officeDocument/2006/relationships/tags" Target="../tags/tag47.xml"/><Relationship Id="rId67" Type="http://schemas.openxmlformats.org/officeDocument/2006/relationships/tags" Target="../tags/tag68.xml"/><Relationship Id="rId116" Type="http://schemas.openxmlformats.org/officeDocument/2006/relationships/tags" Target="../tags/tag117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62" Type="http://schemas.openxmlformats.org/officeDocument/2006/relationships/tags" Target="../tags/tag63.xml"/><Relationship Id="rId83" Type="http://schemas.openxmlformats.org/officeDocument/2006/relationships/tags" Target="../tags/tag84.xml"/><Relationship Id="rId88" Type="http://schemas.openxmlformats.org/officeDocument/2006/relationships/tags" Target="../tags/tag89.xml"/><Relationship Id="rId111" Type="http://schemas.openxmlformats.org/officeDocument/2006/relationships/tags" Target="../tags/tag112.xml"/><Relationship Id="rId15" Type="http://schemas.openxmlformats.org/officeDocument/2006/relationships/tags" Target="../tags/tag16.xml"/><Relationship Id="rId36" Type="http://schemas.openxmlformats.org/officeDocument/2006/relationships/tags" Target="../tags/tag37.xml"/><Relationship Id="rId57" Type="http://schemas.openxmlformats.org/officeDocument/2006/relationships/tags" Target="../tags/tag58.xml"/><Relationship Id="rId106" Type="http://schemas.openxmlformats.org/officeDocument/2006/relationships/tags" Target="../tags/tag107.xml"/></Relationships>
</file>

<file path=ppt/slideLayouts/_rels/slideLayout2.xml.rels><?xml version="1.0" encoding="UTF-8" standalone="yes"?>
<Relationships xmlns="http://schemas.openxmlformats.org/package/2006/relationships"><Relationship Id="rId26" Type="http://schemas.openxmlformats.org/officeDocument/2006/relationships/tags" Target="../tags/tag143.xml"/><Relationship Id="rId117" Type="http://schemas.openxmlformats.org/officeDocument/2006/relationships/slideMaster" Target="../slideMasters/slideMaster1.xml"/><Relationship Id="rId21" Type="http://schemas.openxmlformats.org/officeDocument/2006/relationships/tags" Target="../tags/tag138.xml"/><Relationship Id="rId42" Type="http://schemas.openxmlformats.org/officeDocument/2006/relationships/tags" Target="../tags/tag159.xml"/><Relationship Id="rId47" Type="http://schemas.openxmlformats.org/officeDocument/2006/relationships/tags" Target="../tags/tag164.xml"/><Relationship Id="rId63" Type="http://schemas.openxmlformats.org/officeDocument/2006/relationships/tags" Target="../tags/tag180.xml"/><Relationship Id="rId68" Type="http://schemas.openxmlformats.org/officeDocument/2006/relationships/tags" Target="../tags/tag185.xml"/><Relationship Id="rId84" Type="http://schemas.openxmlformats.org/officeDocument/2006/relationships/tags" Target="../tags/tag201.xml"/><Relationship Id="rId89" Type="http://schemas.openxmlformats.org/officeDocument/2006/relationships/tags" Target="../tags/tag206.xml"/><Relationship Id="rId112" Type="http://schemas.openxmlformats.org/officeDocument/2006/relationships/tags" Target="../tags/tag229.xml"/><Relationship Id="rId16" Type="http://schemas.openxmlformats.org/officeDocument/2006/relationships/tags" Target="../tags/tag133.xml"/><Relationship Id="rId107" Type="http://schemas.openxmlformats.org/officeDocument/2006/relationships/tags" Target="../tags/tag224.xml"/><Relationship Id="rId11" Type="http://schemas.openxmlformats.org/officeDocument/2006/relationships/tags" Target="../tags/tag128.xml"/><Relationship Id="rId32" Type="http://schemas.openxmlformats.org/officeDocument/2006/relationships/tags" Target="../tags/tag149.xml"/><Relationship Id="rId37" Type="http://schemas.openxmlformats.org/officeDocument/2006/relationships/tags" Target="../tags/tag154.xml"/><Relationship Id="rId53" Type="http://schemas.openxmlformats.org/officeDocument/2006/relationships/tags" Target="../tags/tag170.xml"/><Relationship Id="rId58" Type="http://schemas.openxmlformats.org/officeDocument/2006/relationships/tags" Target="../tags/tag175.xml"/><Relationship Id="rId74" Type="http://schemas.openxmlformats.org/officeDocument/2006/relationships/tags" Target="../tags/tag191.xml"/><Relationship Id="rId79" Type="http://schemas.openxmlformats.org/officeDocument/2006/relationships/tags" Target="../tags/tag196.xml"/><Relationship Id="rId102" Type="http://schemas.openxmlformats.org/officeDocument/2006/relationships/tags" Target="../tags/tag219.xml"/><Relationship Id="rId5" Type="http://schemas.openxmlformats.org/officeDocument/2006/relationships/tags" Target="../tags/tag122.xml"/><Relationship Id="rId90" Type="http://schemas.openxmlformats.org/officeDocument/2006/relationships/tags" Target="../tags/tag207.xml"/><Relationship Id="rId95" Type="http://schemas.openxmlformats.org/officeDocument/2006/relationships/tags" Target="../tags/tag212.xml"/><Relationship Id="rId22" Type="http://schemas.openxmlformats.org/officeDocument/2006/relationships/tags" Target="../tags/tag139.xml"/><Relationship Id="rId27" Type="http://schemas.openxmlformats.org/officeDocument/2006/relationships/tags" Target="../tags/tag144.xml"/><Relationship Id="rId43" Type="http://schemas.openxmlformats.org/officeDocument/2006/relationships/tags" Target="../tags/tag160.xml"/><Relationship Id="rId48" Type="http://schemas.openxmlformats.org/officeDocument/2006/relationships/tags" Target="../tags/tag165.xml"/><Relationship Id="rId64" Type="http://schemas.openxmlformats.org/officeDocument/2006/relationships/tags" Target="../tags/tag181.xml"/><Relationship Id="rId69" Type="http://schemas.openxmlformats.org/officeDocument/2006/relationships/tags" Target="../tags/tag186.xml"/><Relationship Id="rId113" Type="http://schemas.openxmlformats.org/officeDocument/2006/relationships/tags" Target="../tags/tag230.xml"/><Relationship Id="rId118" Type="http://schemas.openxmlformats.org/officeDocument/2006/relationships/image" Target="../media/image3.png"/><Relationship Id="rId80" Type="http://schemas.openxmlformats.org/officeDocument/2006/relationships/tags" Target="../tags/tag197.xml"/><Relationship Id="rId85" Type="http://schemas.openxmlformats.org/officeDocument/2006/relationships/tags" Target="../tags/tag202.xml"/><Relationship Id="rId12" Type="http://schemas.openxmlformats.org/officeDocument/2006/relationships/tags" Target="../tags/tag129.xml"/><Relationship Id="rId17" Type="http://schemas.openxmlformats.org/officeDocument/2006/relationships/tags" Target="../tags/tag134.xml"/><Relationship Id="rId33" Type="http://schemas.openxmlformats.org/officeDocument/2006/relationships/tags" Target="../tags/tag150.xml"/><Relationship Id="rId38" Type="http://schemas.openxmlformats.org/officeDocument/2006/relationships/tags" Target="../tags/tag155.xml"/><Relationship Id="rId59" Type="http://schemas.openxmlformats.org/officeDocument/2006/relationships/tags" Target="../tags/tag176.xml"/><Relationship Id="rId103" Type="http://schemas.openxmlformats.org/officeDocument/2006/relationships/tags" Target="../tags/tag220.xml"/><Relationship Id="rId108" Type="http://schemas.openxmlformats.org/officeDocument/2006/relationships/tags" Target="../tags/tag225.xml"/><Relationship Id="rId54" Type="http://schemas.openxmlformats.org/officeDocument/2006/relationships/tags" Target="../tags/tag171.xml"/><Relationship Id="rId70" Type="http://schemas.openxmlformats.org/officeDocument/2006/relationships/tags" Target="../tags/tag187.xml"/><Relationship Id="rId75" Type="http://schemas.openxmlformats.org/officeDocument/2006/relationships/tags" Target="../tags/tag192.xml"/><Relationship Id="rId91" Type="http://schemas.openxmlformats.org/officeDocument/2006/relationships/tags" Target="../tags/tag208.xml"/><Relationship Id="rId96" Type="http://schemas.openxmlformats.org/officeDocument/2006/relationships/tags" Target="../tags/tag213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23" Type="http://schemas.openxmlformats.org/officeDocument/2006/relationships/tags" Target="../tags/tag140.xml"/><Relationship Id="rId28" Type="http://schemas.openxmlformats.org/officeDocument/2006/relationships/tags" Target="../tags/tag145.xml"/><Relationship Id="rId49" Type="http://schemas.openxmlformats.org/officeDocument/2006/relationships/tags" Target="../tags/tag166.xml"/><Relationship Id="rId114" Type="http://schemas.openxmlformats.org/officeDocument/2006/relationships/tags" Target="../tags/tag231.xml"/><Relationship Id="rId10" Type="http://schemas.openxmlformats.org/officeDocument/2006/relationships/tags" Target="../tags/tag127.xml"/><Relationship Id="rId31" Type="http://schemas.openxmlformats.org/officeDocument/2006/relationships/tags" Target="../tags/tag148.xml"/><Relationship Id="rId44" Type="http://schemas.openxmlformats.org/officeDocument/2006/relationships/tags" Target="../tags/tag161.xml"/><Relationship Id="rId52" Type="http://schemas.openxmlformats.org/officeDocument/2006/relationships/tags" Target="../tags/tag169.xml"/><Relationship Id="rId60" Type="http://schemas.openxmlformats.org/officeDocument/2006/relationships/tags" Target="../tags/tag177.xml"/><Relationship Id="rId65" Type="http://schemas.openxmlformats.org/officeDocument/2006/relationships/tags" Target="../tags/tag182.xml"/><Relationship Id="rId73" Type="http://schemas.openxmlformats.org/officeDocument/2006/relationships/tags" Target="../tags/tag190.xml"/><Relationship Id="rId78" Type="http://schemas.openxmlformats.org/officeDocument/2006/relationships/tags" Target="../tags/tag195.xml"/><Relationship Id="rId81" Type="http://schemas.openxmlformats.org/officeDocument/2006/relationships/tags" Target="../tags/tag198.xml"/><Relationship Id="rId86" Type="http://schemas.openxmlformats.org/officeDocument/2006/relationships/tags" Target="../tags/tag203.xml"/><Relationship Id="rId94" Type="http://schemas.openxmlformats.org/officeDocument/2006/relationships/tags" Target="../tags/tag211.xml"/><Relationship Id="rId99" Type="http://schemas.openxmlformats.org/officeDocument/2006/relationships/tags" Target="../tags/tag216.xml"/><Relationship Id="rId101" Type="http://schemas.openxmlformats.org/officeDocument/2006/relationships/tags" Target="../tags/tag218.xml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3" Type="http://schemas.openxmlformats.org/officeDocument/2006/relationships/tags" Target="../tags/tag130.xml"/><Relationship Id="rId18" Type="http://schemas.openxmlformats.org/officeDocument/2006/relationships/tags" Target="../tags/tag135.xml"/><Relationship Id="rId39" Type="http://schemas.openxmlformats.org/officeDocument/2006/relationships/tags" Target="../tags/tag156.xml"/><Relationship Id="rId109" Type="http://schemas.openxmlformats.org/officeDocument/2006/relationships/tags" Target="../tags/tag226.xml"/><Relationship Id="rId34" Type="http://schemas.openxmlformats.org/officeDocument/2006/relationships/tags" Target="../tags/tag151.xml"/><Relationship Id="rId50" Type="http://schemas.openxmlformats.org/officeDocument/2006/relationships/tags" Target="../tags/tag167.xml"/><Relationship Id="rId55" Type="http://schemas.openxmlformats.org/officeDocument/2006/relationships/tags" Target="../tags/tag172.xml"/><Relationship Id="rId76" Type="http://schemas.openxmlformats.org/officeDocument/2006/relationships/tags" Target="../tags/tag193.xml"/><Relationship Id="rId97" Type="http://schemas.openxmlformats.org/officeDocument/2006/relationships/tags" Target="../tags/tag214.xml"/><Relationship Id="rId104" Type="http://schemas.openxmlformats.org/officeDocument/2006/relationships/tags" Target="../tags/tag221.xml"/><Relationship Id="rId7" Type="http://schemas.openxmlformats.org/officeDocument/2006/relationships/tags" Target="../tags/tag124.xml"/><Relationship Id="rId71" Type="http://schemas.openxmlformats.org/officeDocument/2006/relationships/tags" Target="../tags/tag188.xml"/><Relationship Id="rId92" Type="http://schemas.openxmlformats.org/officeDocument/2006/relationships/tags" Target="../tags/tag209.xml"/><Relationship Id="rId2" Type="http://schemas.openxmlformats.org/officeDocument/2006/relationships/tags" Target="../tags/tag119.xml"/><Relationship Id="rId29" Type="http://schemas.openxmlformats.org/officeDocument/2006/relationships/tags" Target="../tags/tag146.xml"/><Relationship Id="rId24" Type="http://schemas.openxmlformats.org/officeDocument/2006/relationships/tags" Target="../tags/tag141.xml"/><Relationship Id="rId40" Type="http://schemas.openxmlformats.org/officeDocument/2006/relationships/tags" Target="../tags/tag157.xml"/><Relationship Id="rId45" Type="http://schemas.openxmlformats.org/officeDocument/2006/relationships/tags" Target="../tags/tag162.xml"/><Relationship Id="rId66" Type="http://schemas.openxmlformats.org/officeDocument/2006/relationships/tags" Target="../tags/tag183.xml"/><Relationship Id="rId87" Type="http://schemas.openxmlformats.org/officeDocument/2006/relationships/tags" Target="../tags/tag204.xml"/><Relationship Id="rId110" Type="http://schemas.openxmlformats.org/officeDocument/2006/relationships/tags" Target="../tags/tag227.xml"/><Relationship Id="rId115" Type="http://schemas.openxmlformats.org/officeDocument/2006/relationships/tags" Target="../tags/tag232.xml"/><Relationship Id="rId61" Type="http://schemas.openxmlformats.org/officeDocument/2006/relationships/tags" Target="../tags/tag178.xml"/><Relationship Id="rId82" Type="http://schemas.openxmlformats.org/officeDocument/2006/relationships/tags" Target="../tags/tag199.xml"/><Relationship Id="rId19" Type="http://schemas.openxmlformats.org/officeDocument/2006/relationships/tags" Target="../tags/tag136.xml"/><Relationship Id="rId14" Type="http://schemas.openxmlformats.org/officeDocument/2006/relationships/tags" Target="../tags/tag131.xml"/><Relationship Id="rId30" Type="http://schemas.openxmlformats.org/officeDocument/2006/relationships/tags" Target="../tags/tag147.xml"/><Relationship Id="rId35" Type="http://schemas.openxmlformats.org/officeDocument/2006/relationships/tags" Target="../tags/tag152.xml"/><Relationship Id="rId56" Type="http://schemas.openxmlformats.org/officeDocument/2006/relationships/tags" Target="../tags/tag173.xml"/><Relationship Id="rId77" Type="http://schemas.openxmlformats.org/officeDocument/2006/relationships/tags" Target="../tags/tag194.xml"/><Relationship Id="rId100" Type="http://schemas.openxmlformats.org/officeDocument/2006/relationships/tags" Target="../tags/tag217.xml"/><Relationship Id="rId105" Type="http://schemas.openxmlformats.org/officeDocument/2006/relationships/tags" Target="../tags/tag222.xml"/><Relationship Id="rId8" Type="http://schemas.openxmlformats.org/officeDocument/2006/relationships/tags" Target="../tags/tag125.xml"/><Relationship Id="rId51" Type="http://schemas.openxmlformats.org/officeDocument/2006/relationships/tags" Target="../tags/tag168.xml"/><Relationship Id="rId72" Type="http://schemas.openxmlformats.org/officeDocument/2006/relationships/tags" Target="../tags/tag189.xml"/><Relationship Id="rId93" Type="http://schemas.openxmlformats.org/officeDocument/2006/relationships/tags" Target="../tags/tag210.xml"/><Relationship Id="rId98" Type="http://schemas.openxmlformats.org/officeDocument/2006/relationships/tags" Target="../tags/tag215.xml"/><Relationship Id="rId3" Type="http://schemas.openxmlformats.org/officeDocument/2006/relationships/tags" Target="../tags/tag120.xml"/><Relationship Id="rId25" Type="http://schemas.openxmlformats.org/officeDocument/2006/relationships/tags" Target="../tags/tag142.xml"/><Relationship Id="rId46" Type="http://schemas.openxmlformats.org/officeDocument/2006/relationships/tags" Target="../tags/tag163.xml"/><Relationship Id="rId67" Type="http://schemas.openxmlformats.org/officeDocument/2006/relationships/tags" Target="../tags/tag184.xml"/><Relationship Id="rId116" Type="http://schemas.openxmlformats.org/officeDocument/2006/relationships/tags" Target="../tags/tag233.xml"/><Relationship Id="rId20" Type="http://schemas.openxmlformats.org/officeDocument/2006/relationships/tags" Target="../tags/tag137.xml"/><Relationship Id="rId41" Type="http://schemas.openxmlformats.org/officeDocument/2006/relationships/tags" Target="../tags/tag158.xml"/><Relationship Id="rId62" Type="http://schemas.openxmlformats.org/officeDocument/2006/relationships/tags" Target="../tags/tag179.xml"/><Relationship Id="rId83" Type="http://schemas.openxmlformats.org/officeDocument/2006/relationships/tags" Target="../tags/tag200.xml"/><Relationship Id="rId88" Type="http://schemas.openxmlformats.org/officeDocument/2006/relationships/tags" Target="../tags/tag205.xml"/><Relationship Id="rId111" Type="http://schemas.openxmlformats.org/officeDocument/2006/relationships/tags" Target="../tags/tag228.xml"/><Relationship Id="rId15" Type="http://schemas.openxmlformats.org/officeDocument/2006/relationships/tags" Target="../tags/tag132.xml"/><Relationship Id="rId36" Type="http://schemas.openxmlformats.org/officeDocument/2006/relationships/tags" Target="../tags/tag153.xml"/><Relationship Id="rId57" Type="http://schemas.openxmlformats.org/officeDocument/2006/relationships/tags" Target="../tags/tag174.xml"/><Relationship Id="rId106" Type="http://schemas.openxmlformats.org/officeDocument/2006/relationships/tags" Target="../tags/tag223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78793" y="205468"/>
            <a:ext cx="10515600" cy="549275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rgbClr val="4A70AE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0" y="754743"/>
            <a:ext cx="12192000" cy="6103257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ntu图标"/>
          <p:cNvPicPr>
            <a:picLocks noChangeAspect="1"/>
          </p:cNvPicPr>
          <p:nvPr userDrawn="1"/>
        </p:nvPicPr>
        <p:blipFill>
          <a:blip r:embed="rId118" cstate="print"/>
          <a:stretch>
            <a:fillRect/>
          </a:stretch>
        </p:blipFill>
        <p:spPr>
          <a:xfrm>
            <a:off x="202393" y="37144"/>
            <a:ext cx="1406600" cy="1435198"/>
          </a:xfrm>
          <a:prstGeom prst="rect">
            <a:avLst/>
          </a:prstGeom>
        </p:spPr>
      </p:pic>
      <p:grpSp>
        <p:nvGrpSpPr>
          <p:cNvPr id="20" name="组合 19"/>
          <p:cNvGrpSpPr/>
          <p:nvPr userDrawn="1"/>
        </p:nvGrpSpPr>
        <p:grpSpPr>
          <a:xfrm>
            <a:off x="34481" y="6533305"/>
            <a:ext cx="9063856" cy="114300"/>
            <a:chOff x="481167" y="6407270"/>
            <a:chExt cx="9063856" cy="114300"/>
          </a:xfrm>
        </p:grpSpPr>
        <p:cxnSp>
          <p:nvCxnSpPr>
            <p:cNvPr id="21" name="直接连接符 20"/>
            <p:cNvCxnSpPr/>
            <p:nvPr>
              <p:custDataLst>
                <p:tags r:id="rId10"/>
              </p:custDataLst>
            </p:nvPr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>
              <p:custDataLst>
                <p:tags r:id="rId11"/>
              </p:custDataLst>
            </p:nvPr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>
              <p:custDataLst>
                <p:tags r:id="rId12"/>
              </p:custDataLst>
            </p:nvPr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>
              <p:custDataLst>
                <p:tags r:id="rId13"/>
              </p:custDataLst>
            </p:nvPr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>
              <p:custDataLst>
                <p:tags r:id="rId14"/>
              </p:custDataLst>
            </p:nvPr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>
              <p:custDataLst>
                <p:tags r:id="rId15"/>
              </p:custDataLst>
            </p:nvPr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>
              <p:custDataLst>
                <p:tags r:id="rId16"/>
              </p:custDataLst>
            </p:nvPr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>
              <p:custDataLst>
                <p:tags r:id="rId17"/>
              </p:custDataLst>
            </p:nvPr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>
              <p:custDataLst>
                <p:tags r:id="rId18"/>
              </p:custDataLst>
            </p:nvPr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>
              <p:custDataLst>
                <p:tags r:id="rId19"/>
              </p:custDataLst>
            </p:nvPr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>
              <p:custDataLst>
                <p:tags r:id="rId20"/>
              </p:custDataLst>
            </p:nvPr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>
              <p:custDataLst>
                <p:tags r:id="rId21"/>
              </p:custDataLst>
            </p:nvPr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>
              <p:custDataLst>
                <p:tags r:id="rId22"/>
              </p:custDataLst>
            </p:nvPr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>
              <p:custDataLst>
                <p:tags r:id="rId23"/>
              </p:custDataLst>
            </p:nvPr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>
              <p:custDataLst>
                <p:tags r:id="rId24"/>
              </p:custDataLst>
            </p:nvPr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>
              <p:custDataLst>
                <p:tags r:id="rId25"/>
              </p:custDataLst>
            </p:nvPr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>
              <p:custDataLst>
                <p:tags r:id="rId26"/>
              </p:custDataLst>
            </p:nvPr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>
              <p:custDataLst>
                <p:tags r:id="rId27"/>
              </p:custDataLst>
            </p:nvPr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>
              <p:custDataLst>
                <p:tags r:id="rId28"/>
              </p:custDataLst>
            </p:nvPr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>
              <p:custDataLst>
                <p:tags r:id="rId29"/>
              </p:custDataLst>
            </p:nvPr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>
              <p:custDataLst>
                <p:tags r:id="rId30"/>
              </p:custDataLst>
            </p:nvPr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>
              <p:custDataLst>
                <p:tags r:id="rId31"/>
              </p:custDataLst>
            </p:nvPr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>
              <p:custDataLst>
                <p:tags r:id="rId32"/>
              </p:custDataLst>
            </p:nvPr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>
              <p:custDataLst>
                <p:tags r:id="rId33"/>
              </p:custDataLst>
            </p:nvPr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>
              <p:custDataLst>
                <p:tags r:id="rId34"/>
              </p:custDataLst>
            </p:nvPr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>
              <p:custDataLst>
                <p:tags r:id="rId35"/>
              </p:custDataLst>
            </p:nvPr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>
              <p:custDataLst>
                <p:tags r:id="rId36"/>
              </p:custDataLst>
            </p:nvPr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>
              <p:custDataLst>
                <p:tags r:id="rId37"/>
              </p:custDataLst>
            </p:nvPr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>
              <p:custDataLst>
                <p:tags r:id="rId38"/>
              </p:custDataLst>
            </p:nvPr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>
              <p:custDataLst>
                <p:tags r:id="rId39"/>
              </p:custDataLst>
            </p:nvPr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>
              <p:custDataLst>
                <p:tags r:id="rId40"/>
              </p:custDataLst>
            </p:nvPr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>
              <p:custDataLst>
                <p:tags r:id="rId41"/>
              </p:custDataLst>
            </p:nvPr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>
              <p:custDataLst>
                <p:tags r:id="rId42"/>
              </p:custDataLst>
            </p:nvPr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>
              <p:custDataLst>
                <p:tags r:id="rId43"/>
              </p:custDataLst>
            </p:nvPr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>
              <p:custDataLst>
                <p:tags r:id="rId44"/>
              </p:custDataLst>
            </p:nvPr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>
              <p:custDataLst>
                <p:tags r:id="rId45"/>
              </p:custDataLst>
            </p:nvPr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>
              <p:custDataLst>
                <p:tags r:id="rId46"/>
              </p:custDataLst>
            </p:nvPr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>
              <p:custDataLst>
                <p:tags r:id="rId47"/>
              </p:custDataLst>
            </p:nvPr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>
              <p:custDataLst>
                <p:tags r:id="rId48"/>
              </p:custDataLst>
            </p:nvPr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>
              <p:custDataLst>
                <p:tags r:id="rId49"/>
              </p:custDataLst>
            </p:nvPr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>
              <p:custDataLst>
                <p:tags r:id="rId50"/>
              </p:custDataLst>
            </p:nvPr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>
              <p:custDataLst>
                <p:tags r:id="rId51"/>
              </p:custDataLst>
            </p:nvPr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>
              <p:custDataLst>
                <p:tags r:id="rId52"/>
              </p:custDataLst>
            </p:nvPr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>
              <p:custDataLst>
                <p:tags r:id="rId53"/>
              </p:custDataLst>
            </p:nvPr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>
              <p:custDataLst>
                <p:tags r:id="rId54"/>
              </p:custDataLst>
            </p:nvPr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>
              <p:custDataLst>
                <p:tags r:id="rId55"/>
              </p:custDataLst>
            </p:nvPr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>
              <p:custDataLst>
                <p:tags r:id="rId56"/>
              </p:custDataLst>
            </p:nvPr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>
              <p:custDataLst>
                <p:tags r:id="rId57"/>
              </p:custDataLst>
            </p:nvPr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>
              <p:custDataLst>
                <p:tags r:id="rId58"/>
              </p:custDataLst>
            </p:nvPr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>
              <p:custDataLst>
                <p:tags r:id="rId59"/>
              </p:custDataLst>
            </p:nvPr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>
              <p:custDataLst>
                <p:tags r:id="rId60"/>
              </p:custDataLst>
            </p:nvPr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61"/>
              </p:custDataLst>
            </p:nvPr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62"/>
              </p:custDataLst>
            </p:nvPr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>
              <p:custDataLst>
                <p:tags r:id="rId63"/>
              </p:custDataLst>
            </p:nvPr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64"/>
              </p:custDataLst>
            </p:nvPr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65"/>
              </p:custDataLst>
            </p:nvPr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>
              <p:custDataLst>
                <p:tags r:id="rId66"/>
              </p:custDataLst>
            </p:nvPr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>
              <p:custDataLst>
                <p:tags r:id="rId67"/>
              </p:custDataLst>
            </p:nvPr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>
              <p:custDataLst>
                <p:tags r:id="rId68"/>
              </p:custDataLst>
            </p:nvPr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>
              <p:custDataLst>
                <p:tags r:id="rId69"/>
              </p:custDataLst>
            </p:nvPr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>
              <p:custDataLst>
                <p:tags r:id="rId70"/>
              </p:custDataLst>
            </p:nvPr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71"/>
              </p:custDataLst>
            </p:nvPr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72"/>
              </p:custDataLst>
            </p:nvPr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>
              <p:custDataLst>
                <p:tags r:id="rId73"/>
              </p:custDataLst>
            </p:nvPr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74"/>
              </p:custDataLst>
            </p:nvPr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75"/>
              </p:custDataLst>
            </p:nvPr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>
              <p:custDataLst>
                <p:tags r:id="rId76"/>
              </p:custDataLst>
            </p:nvPr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>
              <p:custDataLst>
                <p:tags r:id="rId77"/>
              </p:custDataLst>
            </p:nvPr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>
              <p:custDataLst>
                <p:tags r:id="rId78"/>
              </p:custDataLst>
            </p:nvPr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>
              <p:custDataLst>
                <p:tags r:id="rId79"/>
              </p:custDataLst>
            </p:nvPr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>
              <p:custDataLst>
                <p:tags r:id="rId80"/>
              </p:custDataLst>
            </p:nvPr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>
              <p:custDataLst>
                <p:tags r:id="rId81"/>
              </p:custDataLst>
            </p:nvPr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>
              <p:custDataLst>
                <p:tags r:id="rId82"/>
              </p:custDataLst>
            </p:nvPr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>
              <p:custDataLst>
                <p:tags r:id="rId83"/>
              </p:custDataLst>
            </p:nvPr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>
              <p:custDataLst>
                <p:tags r:id="rId84"/>
              </p:custDataLst>
            </p:nvPr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>
              <p:custDataLst>
                <p:tags r:id="rId85"/>
              </p:custDataLst>
            </p:nvPr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>
              <p:custDataLst>
                <p:tags r:id="rId86"/>
              </p:custDataLst>
            </p:nvPr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>
              <p:custDataLst>
                <p:tags r:id="rId87"/>
              </p:custDataLst>
            </p:nvPr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>
              <p:custDataLst>
                <p:tags r:id="rId88"/>
              </p:custDataLst>
            </p:nvPr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>
              <p:custDataLst>
                <p:tags r:id="rId89"/>
              </p:custDataLst>
            </p:nvPr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>
              <p:custDataLst>
                <p:tags r:id="rId90"/>
              </p:custDataLst>
            </p:nvPr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>
              <p:custDataLst>
                <p:tags r:id="rId91"/>
              </p:custDataLst>
            </p:nvPr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>
              <p:custDataLst>
                <p:tags r:id="rId92"/>
              </p:custDataLst>
            </p:nvPr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>
              <p:custDataLst>
                <p:tags r:id="rId93"/>
              </p:custDataLst>
            </p:nvPr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>
              <p:custDataLst>
                <p:tags r:id="rId94"/>
              </p:custDataLst>
            </p:nvPr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>
              <p:custDataLst>
                <p:tags r:id="rId95"/>
              </p:custDataLst>
            </p:nvPr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>
              <p:custDataLst>
                <p:tags r:id="rId96"/>
              </p:custDataLst>
            </p:nvPr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>
              <p:custDataLst>
                <p:tags r:id="rId97"/>
              </p:custDataLst>
            </p:nvPr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>
              <p:custDataLst>
                <p:tags r:id="rId98"/>
              </p:custDataLst>
            </p:nvPr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>
              <p:custDataLst>
                <p:tags r:id="rId99"/>
              </p:custDataLst>
            </p:nvPr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>
              <p:custDataLst>
                <p:tags r:id="rId100"/>
              </p:custDataLst>
            </p:nvPr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>
              <p:custDataLst>
                <p:tags r:id="rId101"/>
              </p:custDataLst>
            </p:nvPr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>
              <p:custDataLst>
                <p:tags r:id="rId102"/>
              </p:custDataLst>
            </p:nvPr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>
              <p:custDataLst>
                <p:tags r:id="rId103"/>
              </p:custDataLst>
            </p:nvPr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>
              <p:custDataLst>
                <p:tags r:id="rId104"/>
              </p:custDataLst>
            </p:nvPr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>
              <p:custDataLst>
                <p:tags r:id="rId105"/>
              </p:custDataLst>
            </p:nvPr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>
              <p:custDataLst>
                <p:tags r:id="rId106"/>
              </p:custDataLst>
            </p:nvPr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>
              <p:custDataLst>
                <p:tags r:id="rId107"/>
              </p:custDataLst>
            </p:nvPr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>
              <p:custDataLst>
                <p:tags r:id="rId108"/>
              </p:custDataLst>
            </p:nvPr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>
              <p:custDataLst>
                <p:tags r:id="rId109"/>
              </p:custDataLst>
            </p:nvPr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>
              <p:custDataLst>
                <p:tags r:id="rId110"/>
              </p:custDataLst>
            </p:nvPr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>
              <p:custDataLst>
                <p:tags r:id="rId111"/>
              </p:custDataLst>
            </p:nvPr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>
              <p:custDataLst>
                <p:tags r:id="rId112"/>
              </p:custDataLst>
            </p:nvPr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>
              <p:custDataLst>
                <p:tags r:id="rId113"/>
              </p:custDataLst>
            </p:nvPr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>
              <p:custDataLst>
                <p:tags r:id="rId114"/>
              </p:custDataLst>
            </p:nvPr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>
              <p:custDataLst>
                <p:tags r:id="rId115"/>
              </p:custDataLst>
            </p:nvPr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>
              <p:custDataLst>
                <p:tags r:id="rId116"/>
              </p:custDataLst>
            </p:nvPr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组合 145"/>
          <p:cNvGrpSpPr/>
          <p:nvPr userDrawn="1"/>
        </p:nvGrpSpPr>
        <p:grpSpPr>
          <a:xfrm>
            <a:off x="11467030" y="6533305"/>
            <a:ext cx="677642" cy="114300"/>
            <a:chOff x="11597706" y="6414350"/>
            <a:chExt cx="677642" cy="114300"/>
          </a:xfrm>
        </p:grpSpPr>
        <p:cxnSp>
          <p:nvCxnSpPr>
            <p:cNvPr id="147" name="直接连接符 146"/>
            <p:cNvCxnSpPr/>
            <p:nvPr>
              <p:custDataLst>
                <p:tags r:id="rId2"/>
              </p:custDataLst>
            </p:nvPr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>
              <p:custDataLst>
                <p:tags r:id="rId3"/>
              </p:custDataLst>
            </p:nvPr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>
              <p:custDataLst>
                <p:tags r:id="rId4"/>
              </p:custDataLst>
            </p:nvPr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>
              <p:custDataLst>
                <p:tags r:id="rId5"/>
              </p:custDataLst>
            </p:nvPr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>
              <p:custDataLst>
                <p:tags r:id="rId6"/>
              </p:custDataLst>
            </p:nvPr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>
              <p:custDataLst>
                <p:tags r:id="rId7"/>
              </p:custDataLst>
            </p:nvPr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>
              <p:custDataLst>
                <p:tags r:id="rId8"/>
              </p:custDataLst>
            </p:nvPr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>
              <p:custDataLst>
                <p:tags r:id="rId9"/>
              </p:custDataLst>
            </p:nvPr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5" name="图片 11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9" cstate="print">
            <a:duotone>
              <a:prstClr val="black"/>
              <a:schemeClr val="tx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9105666" y="6305034"/>
            <a:ext cx="2410913" cy="570842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 spd="slow" advClick="0" advTm="3000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34481" y="6533305"/>
            <a:ext cx="9063856" cy="114300"/>
            <a:chOff x="481167" y="6407270"/>
            <a:chExt cx="9063856" cy="114300"/>
          </a:xfrm>
        </p:grpSpPr>
        <p:cxnSp>
          <p:nvCxnSpPr>
            <p:cNvPr id="21" name="直接连接符 20"/>
            <p:cNvCxnSpPr/>
            <p:nvPr>
              <p:custDataLst>
                <p:tags r:id="rId10"/>
              </p:custDataLst>
            </p:nvPr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>
              <p:custDataLst>
                <p:tags r:id="rId11"/>
              </p:custDataLst>
            </p:nvPr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>
              <p:custDataLst>
                <p:tags r:id="rId12"/>
              </p:custDataLst>
            </p:nvPr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>
              <p:custDataLst>
                <p:tags r:id="rId13"/>
              </p:custDataLst>
            </p:nvPr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>
              <p:custDataLst>
                <p:tags r:id="rId14"/>
              </p:custDataLst>
            </p:nvPr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>
              <p:custDataLst>
                <p:tags r:id="rId15"/>
              </p:custDataLst>
            </p:nvPr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>
              <p:custDataLst>
                <p:tags r:id="rId16"/>
              </p:custDataLst>
            </p:nvPr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>
              <p:custDataLst>
                <p:tags r:id="rId17"/>
              </p:custDataLst>
            </p:nvPr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>
              <p:custDataLst>
                <p:tags r:id="rId18"/>
              </p:custDataLst>
            </p:nvPr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>
              <p:custDataLst>
                <p:tags r:id="rId19"/>
              </p:custDataLst>
            </p:nvPr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>
              <p:custDataLst>
                <p:tags r:id="rId20"/>
              </p:custDataLst>
            </p:nvPr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>
              <p:custDataLst>
                <p:tags r:id="rId21"/>
              </p:custDataLst>
            </p:nvPr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>
              <p:custDataLst>
                <p:tags r:id="rId22"/>
              </p:custDataLst>
            </p:nvPr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>
              <p:custDataLst>
                <p:tags r:id="rId23"/>
              </p:custDataLst>
            </p:nvPr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>
              <p:custDataLst>
                <p:tags r:id="rId24"/>
              </p:custDataLst>
            </p:nvPr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>
              <p:custDataLst>
                <p:tags r:id="rId25"/>
              </p:custDataLst>
            </p:nvPr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>
              <p:custDataLst>
                <p:tags r:id="rId26"/>
              </p:custDataLst>
            </p:nvPr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>
              <p:custDataLst>
                <p:tags r:id="rId27"/>
              </p:custDataLst>
            </p:nvPr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>
              <p:custDataLst>
                <p:tags r:id="rId28"/>
              </p:custDataLst>
            </p:nvPr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>
              <p:custDataLst>
                <p:tags r:id="rId29"/>
              </p:custDataLst>
            </p:nvPr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>
              <p:custDataLst>
                <p:tags r:id="rId30"/>
              </p:custDataLst>
            </p:nvPr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>
              <p:custDataLst>
                <p:tags r:id="rId31"/>
              </p:custDataLst>
            </p:nvPr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>
              <p:custDataLst>
                <p:tags r:id="rId32"/>
              </p:custDataLst>
            </p:nvPr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>
              <p:custDataLst>
                <p:tags r:id="rId33"/>
              </p:custDataLst>
            </p:nvPr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>
              <p:custDataLst>
                <p:tags r:id="rId34"/>
              </p:custDataLst>
            </p:nvPr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>
              <p:custDataLst>
                <p:tags r:id="rId35"/>
              </p:custDataLst>
            </p:nvPr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>
              <p:custDataLst>
                <p:tags r:id="rId36"/>
              </p:custDataLst>
            </p:nvPr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>
              <p:custDataLst>
                <p:tags r:id="rId37"/>
              </p:custDataLst>
            </p:nvPr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>
              <p:custDataLst>
                <p:tags r:id="rId38"/>
              </p:custDataLst>
            </p:nvPr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>
              <p:custDataLst>
                <p:tags r:id="rId39"/>
              </p:custDataLst>
            </p:nvPr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>
              <p:custDataLst>
                <p:tags r:id="rId40"/>
              </p:custDataLst>
            </p:nvPr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>
              <p:custDataLst>
                <p:tags r:id="rId41"/>
              </p:custDataLst>
            </p:nvPr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>
              <p:custDataLst>
                <p:tags r:id="rId42"/>
              </p:custDataLst>
            </p:nvPr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>
              <p:custDataLst>
                <p:tags r:id="rId43"/>
              </p:custDataLst>
            </p:nvPr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>
              <p:custDataLst>
                <p:tags r:id="rId44"/>
              </p:custDataLst>
            </p:nvPr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>
              <p:custDataLst>
                <p:tags r:id="rId45"/>
              </p:custDataLst>
            </p:nvPr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>
              <p:custDataLst>
                <p:tags r:id="rId46"/>
              </p:custDataLst>
            </p:nvPr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>
              <p:custDataLst>
                <p:tags r:id="rId47"/>
              </p:custDataLst>
            </p:nvPr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>
              <p:custDataLst>
                <p:tags r:id="rId48"/>
              </p:custDataLst>
            </p:nvPr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>
              <p:custDataLst>
                <p:tags r:id="rId49"/>
              </p:custDataLst>
            </p:nvPr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>
              <p:custDataLst>
                <p:tags r:id="rId50"/>
              </p:custDataLst>
            </p:nvPr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>
              <p:custDataLst>
                <p:tags r:id="rId51"/>
              </p:custDataLst>
            </p:nvPr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>
              <p:custDataLst>
                <p:tags r:id="rId52"/>
              </p:custDataLst>
            </p:nvPr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>
              <p:custDataLst>
                <p:tags r:id="rId53"/>
              </p:custDataLst>
            </p:nvPr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>
              <p:custDataLst>
                <p:tags r:id="rId54"/>
              </p:custDataLst>
            </p:nvPr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>
              <p:custDataLst>
                <p:tags r:id="rId55"/>
              </p:custDataLst>
            </p:nvPr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>
              <p:custDataLst>
                <p:tags r:id="rId56"/>
              </p:custDataLst>
            </p:nvPr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>
              <p:custDataLst>
                <p:tags r:id="rId57"/>
              </p:custDataLst>
            </p:nvPr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>
              <p:custDataLst>
                <p:tags r:id="rId58"/>
              </p:custDataLst>
            </p:nvPr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>
              <p:custDataLst>
                <p:tags r:id="rId59"/>
              </p:custDataLst>
            </p:nvPr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>
              <p:custDataLst>
                <p:tags r:id="rId60"/>
              </p:custDataLst>
            </p:nvPr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61"/>
              </p:custDataLst>
            </p:nvPr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62"/>
              </p:custDataLst>
            </p:nvPr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>
              <p:custDataLst>
                <p:tags r:id="rId63"/>
              </p:custDataLst>
            </p:nvPr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64"/>
              </p:custDataLst>
            </p:nvPr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65"/>
              </p:custDataLst>
            </p:nvPr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>
              <p:custDataLst>
                <p:tags r:id="rId66"/>
              </p:custDataLst>
            </p:nvPr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>
              <p:custDataLst>
                <p:tags r:id="rId67"/>
              </p:custDataLst>
            </p:nvPr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>
              <p:custDataLst>
                <p:tags r:id="rId68"/>
              </p:custDataLst>
            </p:nvPr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>
              <p:custDataLst>
                <p:tags r:id="rId69"/>
              </p:custDataLst>
            </p:nvPr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>
              <p:custDataLst>
                <p:tags r:id="rId70"/>
              </p:custDataLst>
            </p:nvPr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71"/>
              </p:custDataLst>
            </p:nvPr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72"/>
              </p:custDataLst>
            </p:nvPr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>
              <p:custDataLst>
                <p:tags r:id="rId73"/>
              </p:custDataLst>
            </p:nvPr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74"/>
              </p:custDataLst>
            </p:nvPr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75"/>
              </p:custDataLst>
            </p:nvPr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>
              <p:custDataLst>
                <p:tags r:id="rId76"/>
              </p:custDataLst>
            </p:nvPr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>
              <p:custDataLst>
                <p:tags r:id="rId77"/>
              </p:custDataLst>
            </p:nvPr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>
              <p:custDataLst>
                <p:tags r:id="rId78"/>
              </p:custDataLst>
            </p:nvPr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>
              <p:custDataLst>
                <p:tags r:id="rId79"/>
              </p:custDataLst>
            </p:nvPr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>
              <p:custDataLst>
                <p:tags r:id="rId80"/>
              </p:custDataLst>
            </p:nvPr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>
              <p:custDataLst>
                <p:tags r:id="rId81"/>
              </p:custDataLst>
            </p:nvPr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>
              <p:custDataLst>
                <p:tags r:id="rId82"/>
              </p:custDataLst>
            </p:nvPr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>
              <p:custDataLst>
                <p:tags r:id="rId83"/>
              </p:custDataLst>
            </p:nvPr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>
              <p:custDataLst>
                <p:tags r:id="rId84"/>
              </p:custDataLst>
            </p:nvPr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>
              <p:custDataLst>
                <p:tags r:id="rId85"/>
              </p:custDataLst>
            </p:nvPr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>
              <p:custDataLst>
                <p:tags r:id="rId86"/>
              </p:custDataLst>
            </p:nvPr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>
              <p:custDataLst>
                <p:tags r:id="rId87"/>
              </p:custDataLst>
            </p:nvPr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>
              <p:custDataLst>
                <p:tags r:id="rId88"/>
              </p:custDataLst>
            </p:nvPr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>
              <p:custDataLst>
                <p:tags r:id="rId89"/>
              </p:custDataLst>
            </p:nvPr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>
              <p:custDataLst>
                <p:tags r:id="rId90"/>
              </p:custDataLst>
            </p:nvPr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>
              <p:custDataLst>
                <p:tags r:id="rId91"/>
              </p:custDataLst>
            </p:nvPr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>
              <p:custDataLst>
                <p:tags r:id="rId92"/>
              </p:custDataLst>
            </p:nvPr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>
              <p:custDataLst>
                <p:tags r:id="rId93"/>
              </p:custDataLst>
            </p:nvPr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>
              <p:custDataLst>
                <p:tags r:id="rId94"/>
              </p:custDataLst>
            </p:nvPr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>
              <p:custDataLst>
                <p:tags r:id="rId95"/>
              </p:custDataLst>
            </p:nvPr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>
              <p:custDataLst>
                <p:tags r:id="rId96"/>
              </p:custDataLst>
            </p:nvPr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>
              <p:custDataLst>
                <p:tags r:id="rId97"/>
              </p:custDataLst>
            </p:nvPr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>
              <p:custDataLst>
                <p:tags r:id="rId98"/>
              </p:custDataLst>
            </p:nvPr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>
              <p:custDataLst>
                <p:tags r:id="rId99"/>
              </p:custDataLst>
            </p:nvPr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>
              <p:custDataLst>
                <p:tags r:id="rId100"/>
              </p:custDataLst>
            </p:nvPr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>
              <p:custDataLst>
                <p:tags r:id="rId101"/>
              </p:custDataLst>
            </p:nvPr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>
              <p:custDataLst>
                <p:tags r:id="rId102"/>
              </p:custDataLst>
            </p:nvPr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>
              <p:custDataLst>
                <p:tags r:id="rId103"/>
              </p:custDataLst>
            </p:nvPr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>
              <p:custDataLst>
                <p:tags r:id="rId104"/>
              </p:custDataLst>
            </p:nvPr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>
              <p:custDataLst>
                <p:tags r:id="rId105"/>
              </p:custDataLst>
            </p:nvPr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>
              <p:custDataLst>
                <p:tags r:id="rId106"/>
              </p:custDataLst>
            </p:nvPr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>
              <p:custDataLst>
                <p:tags r:id="rId107"/>
              </p:custDataLst>
            </p:nvPr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>
              <p:custDataLst>
                <p:tags r:id="rId108"/>
              </p:custDataLst>
            </p:nvPr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>
              <p:custDataLst>
                <p:tags r:id="rId109"/>
              </p:custDataLst>
            </p:nvPr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>
              <p:custDataLst>
                <p:tags r:id="rId110"/>
              </p:custDataLst>
            </p:nvPr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>
              <p:custDataLst>
                <p:tags r:id="rId111"/>
              </p:custDataLst>
            </p:nvPr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>
              <p:custDataLst>
                <p:tags r:id="rId112"/>
              </p:custDataLst>
            </p:nvPr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>
              <p:custDataLst>
                <p:tags r:id="rId113"/>
              </p:custDataLst>
            </p:nvPr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>
              <p:custDataLst>
                <p:tags r:id="rId114"/>
              </p:custDataLst>
            </p:nvPr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>
              <p:custDataLst>
                <p:tags r:id="rId115"/>
              </p:custDataLst>
            </p:nvPr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>
              <p:custDataLst>
                <p:tags r:id="rId116"/>
              </p:custDataLst>
            </p:nvPr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组合 145"/>
          <p:cNvGrpSpPr/>
          <p:nvPr userDrawn="1"/>
        </p:nvGrpSpPr>
        <p:grpSpPr>
          <a:xfrm>
            <a:off x="11467030" y="6533305"/>
            <a:ext cx="677642" cy="114300"/>
            <a:chOff x="11597706" y="6414350"/>
            <a:chExt cx="677642" cy="114300"/>
          </a:xfrm>
        </p:grpSpPr>
        <p:cxnSp>
          <p:nvCxnSpPr>
            <p:cNvPr id="147" name="直接连接符 146"/>
            <p:cNvCxnSpPr/>
            <p:nvPr>
              <p:custDataLst>
                <p:tags r:id="rId2"/>
              </p:custDataLst>
            </p:nvPr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>
              <p:custDataLst>
                <p:tags r:id="rId3"/>
              </p:custDataLst>
            </p:nvPr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>
              <p:custDataLst>
                <p:tags r:id="rId4"/>
              </p:custDataLst>
            </p:nvPr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>
              <p:custDataLst>
                <p:tags r:id="rId5"/>
              </p:custDataLst>
            </p:nvPr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>
              <p:custDataLst>
                <p:tags r:id="rId6"/>
              </p:custDataLst>
            </p:nvPr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>
              <p:custDataLst>
                <p:tags r:id="rId7"/>
              </p:custDataLst>
            </p:nvPr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>
              <p:custDataLst>
                <p:tags r:id="rId8"/>
              </p:custDataLst>
            </p:nvPr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>
              <p:custDataLst>
                <p:tags r:id="rId9"/>
              </p:custDataLst>
            </p:nvPr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5" name="图片 11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8" cstate="print">
            <a:duotone>
              <a:prstClr val="black"/>
              <a:schemeClr val="tx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9105666" y="6305034"/>
            <a:ext cx="2410913" cy="570842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 spd="slow" advClick="0" advTm="3000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0" y="2774950"/>
            <a:ext cx="12192000" cy="1292225"/>
          </a:xfrm>
          <a:prstGeom prst="rect">
            <a:avLst/>
          </a:prstGeom>
          <a:solidFill>
            <a:srgbClr val="7993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endParaRPr lang="zh-CN" altLang="en-US" sz="2400" noProof="1"/>
          </a:p>
        </p:txBody>
      </p:sp>
      <p:grpSp>
        <p:nvGrpSpPr>
          <p:cNvPr id="28" name="组合 27"/>
          <p:cNvGrpSpPr/>
          <p:nvPr userDrawn="1"/>
        </p:nvGrpSpPr>
        <p:grpSpPr bwMode="auto">
          <a:xfrm>
            <a:off x="1822450" y="2371725"/>
            <a:ext cx="2114550" cy="2114550"/>
            <a:chOff x="1041891" y="2887277"/>
            <a:chExt cx="1036261" cy="1036518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29" name="Oval 53"/>
            <p:cNvSpPr>
              <a:spLocks noChangeArrowheads="1"/>
            </p:cNvSpPr>
            <p:nvPr userDrawn="1"/>
          </p:nvSpPr>
          <p:spPr bwMode="auto">
            <a:xfrm>
              <a:off x="1041891" y="2887277"/>
              <a:ext cx="1036261" cy="1036518"/>
            </a:xfrm>
            <a:prstGeom prst="ellipse">
              <a:avLst/>
            </a:prstGeom>
            <a:solidFill>
              <a:srgbClr val="7993C3"/>
            </a:solidFill>
            <a:ln w="88900">
              <a:gradFill flip="none" rotWithShape="1">
                <a:gsLst>
                  <a:gs pos="0">
                    <a:srgbClr val="FFFFFF"/>
                  </a:gs>
                  <a:gs pos="100000">
                    <a:srgbClr val="D9D9DA"/>
                  </a:gs>
                </a:gsLst>
                <a:lin ang="2700000" scaled="0"/>
                <a:tileRect/>
              </a:gradFill>
            </a:ln>
            <a:effectLst>
              <a:outerShdw blurRad="279400" dist="76200" dir="2700000" sx="101000" sy="101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5865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 Box 58"/>
            <p:cNvSpPr txBox="1">
              <a:spLocks noChangeArrowheads="1"/>
            </p:cNvSpPr>
            <p:nvPr userDrawn="1"/>
          </p:nvSpPr>
          <p:spPr bwMode="auto">
            <a:xfrm>
              <a:off x="1159958" y="3077737"/>
              <a:ext cx="782803" cy="707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8800" dirty="0"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  <p:sp>
        <p:nvSpPr>
          <p:cNvPr id="31" name="标题 1"/>
          <p:cNvSpPr>
            <a:spLocks noGrp="1"/>
          </p:cNvSpPr>
          <p:nvPr>
            <p:ph type="title"/>
          </p:nvPr>
        </p:nvSpPr>
        <p:spPr>
          <a:xfrm>
            <a:off x="4305889" y="3124787"/>
            <a:ext cx="6173399" cy="592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37" name="图片 36" descr="ntu图标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02393" y="37144"/>
            <a:ext cx="1406600" cy="1435198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1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5915" y="0"/>
            <a:ext cx="3578662" cy="1176630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1676400" y="693329"/>
            <a:ext cx="105156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ntu图标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8906" y="99795"/>
            <a:ext cx="1384293" cy="1412437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slow" advClick="0" advTm="3000">
    <p:randomBar dir="vert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13" Type="http://schemas.openxmlformats.org/officeDocument/2006/relationships/tags" Target="../tags/tag247.xml"/><Relationship Id="rId18" Type="http://schemas.openxmlformats.org/officeDocument/2006/relationships/tags" Target="../tags/tag252.xml"/><Relationship Id="rId3" Type="http://schemas.openxmlformats.org/officeDocument/2006/relationships/tags" Target="../tags/tag237.xml"/><Relationship Id="rId21" Type="http://schemas.openxmlformats.org/officeDocument/2006/relationships/slideLayout" Target="../slideLayouts/slideLayout4.xml"/><Relationship Id="rId7" Type="http://schemas.openxmlformats.org/officeDocument/2006/relationships/tags" Target="../tags/tag241.xml"/><Relationship Id="rId12" Type="http://schemas.openxmlformats.org/officeDocument/2006/relationships/tags" Target="../tags/tag246.xml"/><Relationship Id="rId17" Type="http://schemas.openxmlformats.org/officeDocument/2006/relationships/tags" Target="../tags/tag251.xml"/><Relationship Id="rId2" Type="http://schemas.openxmlformats.org/officeDocument/2006/relationships/tags" Target="../tags/tag236.xml"/><Relationship Id="rId16" Type="http://schemas.openxmlformats.org/officeDocument/2006/relationships/tags" Target="../tags/tag250.xml"/><Relationship Id="rId20" Type="http://schemas.openxmlformats.org/officeDocument/2006/relationships/tags" Target="../tags/tag254.xml"/><Relationship Id="rId1" Type="http://schemas.openxmlformats.org/officeDocument/2006/relationships/tags" Target="../tags/tag235.xml"/><Relationship Id="rId6" Type="http://schemas.openxmlformats.org/officeDocument/2006/relationships/tags" Target="../tags/tag240.xml"/><Relationship Id="rId11" Type="http://schemas.openxmlformats.org/officeDocument/2006/relationships/tags" Target="../tags/tag245.xml"/><Relationship Id="rId5" Type="http://schemas.openxmlformats.org/officeDocument/2006/relationships/tags" Target="../tags/tag239.xml"/><Relationship Id="rId15" Type="http://schemas.openxmlformats.org/officeDocument/2006/relationships/tags" Target="../tags/tag249.xml"/><Relationship Id="rId10" Type="http://schemas.openxmlformats.org/officeDocument/2006/relationships/tags" Target="../tags/tag244.xml"/><Relationship Id="rId19" Type="http://schemas.openxmlformats.org/officeDocument/2006/relationships/tags" Target="../tags/tag253.xml"/><Relationship Id="rId4" Type="http://schemas.openxmlformats.org/officeDocument/2006/relationships/tags" Target="../tags/tag238.xml"/><Relationship Id="rId9" Type="http://schemas.openxmlformats.org/officeDocument/2006/relationships/tags" Target="../tags/tag243.xml"/><Relationship Id="rId14" Type="http://schemas.openxmlformats.org/officeDocument/2006/relationships/tags" Target="../tags/tag248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tags" Target="../tags/tag256.xml"/><Relationship Id="rId1" Type="http://schemas.openxmlformats.org/officeDocument/2006/relationships/tags" Target="../tags/tag25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269.xml"/><Relationship Id="rId18" Type="http://schemas.openxmlformats.org/officeDocument/2006/relationships/tags" Target="../tags/tag274.xml"/><Relationship Id="rId26" Type="http://schemas.openxmlformats.org/officeDocument/2006/relationships/image" Target="../media/image16.png"/><Relationship Id="rId3" Type="http://schemas.openxmlformats.org/officeDocument/2006/relationships/tags" Target="../tags/tag259.xml"/><Relationship Id="rId21" Type="http://schemas.openxmlformats.org/officeDocument/2006/relationships/tags" Target="../tags/tag277.xml"/><Relationship Id="rId34" Type="http://schemas.openxmlformats.org/officeDocument/2006/relationships/image" Target="../media/image24.png"/><Relationship Id="rId7" Type="http://schemas.openxmlformats.org/officeDocument/2006/relationships/tags" Target="../tags/tag263.xml"/><Relationship Id="rId12" Type="http://schemas.openxmlformats.org/officeDocument/2006/relationships/tags" Target="../tags/tag268.xml"/><Relationship Id="rId17" Type="http://schemas.openxmlformats.org/officeDocument/2006/relationships/tags" Target="../tags/tag273.xml"/><Relationship Id="rId25" Type="http://schemas.openxmlformats.org/officeDocument/2006/relationships/image" Target="../media/image15.png"/><Relationship Id="rId33" Type="http://schemas.openxmlformats.org/officeDocument/2006/relationships/image" Target="../media/image23.png"/><Relationship Id="rId2" Type="http://schemas.openxmlformats.org/officeDocument/2006/relationships/tags" Target="../tags/tag258.xml"/><Relationship Id="rId16" Type="http://schemas.openxmlformats.org/officeDocument/2006/relationships/tags" Target="../tags/tag272.xml"/><Relationship Id="rId20" Type="http://schemas.openxmlformats.org/officeDocument/2006/relationships/tags" Target="../tags/tag276.xml"/><Relationship Id="rId29" Type="http://schemas.openxmlformats.org/officeDocument/2006/relationships/image" Target="../media/image19.png"/><Relationship Id="rId1" Type="http://schemas.openxmlformats.org/officeDocument/2006/relationships/tags" Target="../tags/tag257.xml"/><Relationship Id="rId6" Type="http://schemas.openxmlformats.org/officeDocument/2006/relationships/tags" Target="../tags/tag262.xml"/><Relationship Id="rId11" Type="http://schemas.openxmlformats.org/officeDocument/2006/relationships/tags" Target="../tags/tag267.xml"/><Relationship Id="rId24" Type="http://schemas.openxmlformats.org/officeDocument/2006/relationships/image" Target="../media/image14.png"/><Relationship Id="rId32" Type="http://schemas.openxmlformats.org/officeDocument/2006/relationships/image" Target="../media/image22.svg"/><Relationship Id="rId5" Type="http://schemas.openxmlformats.org/officeDocument/2006/relationships/tags" Target="../tags/tag261.xml"/><Relationship Id="rId15" Type="http://schemas.openxmlformats.org/officeDocument/2006/relationships/tags" Target="../tags/tag271.xml"/><Relationship Id="rId23" Type="http://schemas.openxmlformats.org/officeDocument/2006/relationships/notesSlide" Target="../notesSlides/notesSlide5.xml"/><Relationship Id="rId28" Type="http://schemas.openxmlformats.org/officeDocument/2006/relationships/image" Target="../media/image18.png"/><Relationship Id="rId10" Type="http://schemas.openxmlformats.org/officeDocument/2006/relationships/tags" Target="../tags/tag266.xml"/><Relationship Id="rId19" Type="http://schemas.openxmlformats.org/officeDocument/2006/relationships/tags" Target="../tags/tag275.xml"/><Relationship Id="rId31" Type="http://schemas.openxmlformats.org/officeDocument/2006/relationships/image" Target="../media/image21.png"/><Relationship Id="rId4" Type="http://schemas.openxmlformats.org/officeDocument/2006/relationships/tags" Target="../tags/tag260.xml"/><Relationship Id="rId9" Type="http://schemas.openxmlformats.org/officeDocument/2006/relationships/tags" Target="../tags/tag265.xml"/><Relationship Id="rId14" Type="http://schemas.openxmlformats.org/officeDocument/2006/relationships/tags" Target="../tags/tag270.xml"/><Relationship Id="rId22" Type="http://schemas.openxmlformats.org/officeDocument/2006/relationships/slideLayout" Target="../slideLayouts/slideLayout1.xml"/><Relationship Id="rId27" Type="http://schemas.openxmlformats.org/officeDocument/2006/relationships/image" Target="../media/image17.png"/><Relationship Id="rId30" Type="http://schemas.openxmlformats.org/officeDocument/2006/relationships/image" Target="../media/image20.jpeg"/><Relationship Id="rId35" Type="http://schemas.openxmlformats.org/officeDocument/2006/relationships/image" Target="../media/image25.png"/><Relationship Id="rId8" Type="http://schemas.openxmlformats.org/officeDocument/2006/relationships/tags" Target="../tags/tag26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280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279.xml"/><Relationship Id="rId1" Type="http://schemas.openxmlformats.org/officeDocument/2006/relationships/tags" Target="../tags/tag27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285.xml"/><Relationship Id="rId7" Type="http://schemas.openxmlformats.org/officeDocument/2006/relationships/image" Target="../media/image28.png"/><Relationship Id="rId2" Type="http://schemas.openxmlformats.org/officeDocument/2006/relationships/tags" Target="../tags/tag284.xml"/><Relationship Id="rId1" Type="http://schemas.openxmlformats.org/officeDocument/2006/relationships/tags" Target="../tags/tag283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86.xml"/><Relationship Id="rId9" Type="http://schemas.openxmlformats.org/officeDocument/2006/relationships/image" Target="../media/image3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89.xml"/><Relationship Id="rId7" Type="http://schemas.openxmlformats.org/officeDocument/2006/relationships/image" Target="../media/image32.png"/><Relationship Id="rId2" Type="http://schemas.openxmlformats.org/officeDocument/2006/relationships/tags" Target="../tags/tag288.xml"/><Relationship Id="rId1" Type="http://schemas.openxmlformats.org/officeDocument/2006/relationships/tags" Target="../tags/tag287.xml"/><Relationship Id="rId6" Type="http://schemas.openxmlformats.org/officeDocument/2006/relationships/image" Target="../media/image31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5.png"/><Relationship Id="rId2" Type="http://schemas.openxmlformats.org/officeDocument/2006/relationships/tags" Target="../tags/tag291.xml"/><Relationship Id="rId1" Type="http://schemas.openxmlformats.org/officeDocument/2006/relationships/tags" Target="../tags/tag290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99.xml"/><Relationship Id="rId13" Type="http://schemas.openxmlformats.org/officeDocument/2006/relationships/tags" Target="../tags/tag304.xml"/><Relationship Id="rId18" Type="http://schemas.openxmlformats.org/officeDocument/2006/relationships/tags" Target="../tags/tag309.xml"/><Relationship Id="rId26" Type="http://schemas.openxmlformats.org/officeDocument/2006/relationships/image" Target="../media/image42.png"/><Relationship Id="rId3" Type="http://schemas.openxmlformats.org/officeDocument/2006/relationships/tags" Target="../tags/tag294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298.xml"/><Relationship Id="rId12" Type="http://schemas.openxmlformats.org/officeDocument/2006/relationships/tags" Target="../tags/tag303.xml"/><Relationship Id="rId17" Type="http://schemas.openxmlformats.org/officeDocument/2006/relationships/tags" Target="../tags/tag308.xml"/><Relationship Id="rId25" Type="http://schemas.openxmlformats.org/officeDocument/2006/relationships/image" Target="../media/image41.png"/><Relationship Id="rId2" Type="http://schemas.openxmlformats.org/officeDocument/2006/relationships/tags" Target="../tags/tag293.xml"/><Relationship Id="rId16" Type="http://schemas.openxmlformats.org/officeDocument/2006/relationships/tags" Target="../tags/tag307.xml"/><Relationship Id="rId20" Type="http://schemas.openxmlformats.org/officeDocument/2006/relationships/tags" Target="../tags/tag311.xml"/><Relationship Id="rId1" Type="http://schemas.openxmlformats.org/officeDocument/2006/relationships/tags" Target="../tags/tag292.xml"/><Relationship Id="rId6" Type="http://schemas.openxmlformats.org/officeDocument/2006/relationships/tags" Target="../tags/tag297.xml"/><Relationship Id="rId11" Type="http://schemas.openxmlformats.org/officeDocument/2006/relationships/tags" Target="../tags/tag302.xml"/><Relationship Id="rId24" Type="http://schemas.openxmlformats.org/officeDocument/2006/relationships/image" Target="../media/image40.png"/><Relationship Id="rId5" Type="http://schemas.openxmlformats.org/officeDocument/2006/relationships/tags" Target="../tags/tag296.xml"/><Relationship Id="rId15" Type="http://schemas.openxmlformats.org/officeDocument/2006/relationships/tags" Target="../tags/tag306.xml"/><Relationship Id="rId23" Type="http://schemas.openxmlformats.org/officeDocument/2006/relationships/image" Target="../media/image39.png"/><Relationship Id="rId10" Type="http://schemas.openxmlformats.org/officeDocument/2006/relationships/tags" Target="../tags/tag301.xml"/><Relationship Id="rId19" Type="http://schemas.openxmlformats.org/officeDocument/2006/relationships/tags" Target="../tags/tag310.xml"/><Relationship Id="rId4" Type="http://schemas.openxmlformats.org/officeDocument/2006/relationships/tags" Target="../tags/tag295.xml"/><Relationship Id="rId9" Type="http://schemas.openxmlformats.org/officeDocument/2006/relationships/tags" Target="../tags/tag300.xml"/><Relationship Id="rId14" Type="http://schemas.openxmlformats.org/officeDocument/2006/relationships/tags" Target="../tags/tag305.xml"/><Relationship Id="rId2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tags" Target="../tags/tag314.xml"/><Relationship Id="rId7" Type="http://schemas.openxmlformats.org/officeDocument/2006/relationships/image" Target="../media/image43.png"/><Relationship Id="rId2" Type="http://schemas.openxmlformats.org/officeDocument/2006/relationships/tags" Target="../tags/tag313.xml"/><Relationship Id="rId1" Type="http://schemas.openxmlformats.org/officeDocument/2006/relationships/tags" Target="../tags/tag312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46.png"/><Relationship Id="rId4" Type="http://schemas.openxmlformats.org/officeDocument/2006/relationships/tags" Target="../tags/tag315.xml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6.xml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7.xml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8.xml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9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5.png"/><Relationship Id="rId2" Type="http://schemas.openxmlformats.org/officeDocument/2006/relationships/tags" Target="../tags/tag321.xml"/><Relationship Id="rId1" Type="http://schemas.openxmlformats.org/officeDocument/2006/relationships/tags" Target="../tags/tag320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notesSlide" Target="../notesSlides/notesSlide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59"/>
          <p:cNvSpPr>
            <a:spLocks noChangeArrowheads="1"/>
          </p:cNvSpPr>
          <p:nvPr/>
        </p:nvSpPr>
        <p:spPr bwMode="auto">
          <a:xfrm>
            <a:off x="6497817" y="4549808"/>
            <a:ext cx="42168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答辩人：陆桂龙      指导老师：陈亮、鞠小林 </a:t>
            </a:r>
          </a:p>
        </p:txBody>
      </p:sp>
      <p:sp>
        <p:nvSpPr>
          <p:cNvPr id="3" name="TextBox 12"/>
          <p:cNvSpPr txBox="1"/>
          <p:nvPr/>
        </p:nvSpPr>
        <p:spPr>
          <a:xfrm>
            <a:off x="4438300" y="3112727"/>
            <a:ext cx="8651047" cy="1175739"/>
          </a:xfrm>
          <a:prstGeom prst="rect">
            <a:avLst/>
          </a:prstGeom>
          <a:noFill/>
        </p:spPr>
        <p:txBody>
          <a:bodyPr wrap="square" lIns="91472" tIns="45736" rIns="91472" bIns="45736" rtlCol="0" anchor="ctr">
            <a:spAutoFit/>
          </a:bodyPr>
          <a:lstStyle>
            <a:defPPr>
              <a:defRPr lang="zh-CN"/>
            </a:defPPr>
            <a:lvl1pPr algn="ctr">
              <a:defRPr sz="6000" b="1">
                <a:gradFill>
                  <a:gsLst>
                    <a:gs pos="0">
                      <a:schemeClr val="bg1">
                        <a:shade val="30000"/>
                        <a:satMod val="115000"/>
                      </a:schemeClr>
                    </a:gs>
                    <a:gs pos="50000">
                      <a:schemeClr val="bg1">
                        <a:shade val="67500"/>
                        <a:satMod val="115000"/>
                      </a:schemeClr>
                    </a:gs>
                    <a:gs pos="100000">
                      <a:schemeClr val="bg1">
                        <a:shade val="100000"/>
                        <a:satMod val="115000"/>
                      </a:schemeClr>
                    </a:gs>
                  </a:gsLst>
                  <a:lin ang="16200000" scaled="1"/>
                </a:gra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3200" dirty="0">
                <a:solidFill>
                  <a:srgbClr val="4A70AE"/>
                </a:solidFill>
                <a:latin typeface="+mj-ea"/>
                <a:ea typeface="+mj-ea"/>
                <a:sym typeface="Calibri" panose="020F0502020204030204" pitchFamily="34" charset="0"/>
              </a:rPr>
              <a:t>基于大语言模型的</a:t>
            </a:r>
            <a:r>
              <a:rPr lang="zh-CN" altLang="en-US" sz="3200" dirty="0">
                <a:solidFill>
                  <a:srgbClr val="4A70AE"/>
                </a:solidFill>
                <a:latin typeface="+mj-ea"/>
                <a:ea typeface="+mj-ea"/>
                <a:sym typeface="+mn-ea"/>
              </a:rPr>
              <a:t>软件漏洞分析</a:t>
            </a:r>
            <a:endParaRPr lang="en-US" altLang="zh-CN" sz="3200" dirty="0">
              <a:solidFill>
                <a:srgbClr val="4A70AE"/>
              </a:solidFill>
              <a:latin typeface="+mj-ea"/>
              <a:ea typeface="+mj-ea"/>
              <a:sym typeface="+mn-ea"/>
            </a:endParaRPr>
          </a:p>
          <a:p>
            <a: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3200" dirty="0">
                <a:solidFill>
                  <a:srgbClr val="4A70AE"/>
                </a:solidFill>
                <a:latin typeface="+mj-ea"/>
                <a:ea typeface="+mj-ea"/>
                <a:sym typeface="+mn-ea"/>
              </a:rPr>
              <a:t>方法</a:t>
            </a:r>
            <a:r>
              <a:rPr lang="zh-CN" altLang="en-US" sz="3200" dirty="0">
                <a:solidFill>
                  <a:srgbClr val="4A70AE"/>
                </a:solidFill>
                <a:latin typeface="+mj-ea"/>
                <a:ea typeface="+mj-ea"/>
                <a:sym typeface="Calibri" panose="020F0502020204030204" pitchFamily="34" charset="0"/>
              </a:rPr>
              <a:t>的研究</a:t>
            </a:r>
          </a:p>
        </p:txBody>
      </p:sp>
      <p:sp>
        <p:nvSpPr>
          <p:cNvPr id="4" name="PA_矩形 2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17965" y="5057371"/>
            <a:ext cx="2553335" cy="607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南通大学人工智能与计算机学院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智能软件工程实验室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圆角矩形 4"/>
          <p:cNvSpPr/>
          <p:nvPr>
            <p:custDataLst>
              <p:tags r:id="rId1"/>
            </p:custDataLst>
          </p:nvPr>
        </p:nvSpPr>
        <p:spPr>
          <a:xfrm>
            <a:off x="6956126" y="2712218"/>
            <a:ext cx="4246813" cy="576064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>
            <p:custDataLst>
              <p:tags r:id="rId2"/>
            </p:custDataLst>
          </p:nvPr>
        </p:nvSpPr>
        <p:spPr>
          <a:xfrm>
            <a:off x="7603945" y="2712218"/>
            <a:ext cx="3455034" cy="57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TextBox 82"/>
          <p:cNvSpPr txBox="1"/>
          <p:nvPr>
            <p:custDataLst>
              <p:tags r:id="rId3"/>
            </p:custDataLst>
          </p:nvPr>
        </p:nvSpPr>
        <p:spPr>
          <a:xfrm flipH="1">
            <a:off x="7100086" y="2738640"/>
            <a:ext cx="35989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45" name="文本框 9"/>
          <p:cNvSpPr txBox="1"/>
          <p:nvPr>
            <p:custDataLst>
              <p:tags r:id="rId4"/>
            </p:custDataLst>
          </p:nvPr>
        </p:nvSpPr>
        <p:spPr>
          <a:xfrm>
            <a:off x="7830522" y="2780959"/>
            <a:ext cx="2320967" cy="4375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46" name="圆角矩形 8"/>
          <p:cNvSpPr/>
          <p:nvPr>
            <p:custDataLst>
              <p:tags r:id="rId5"/>
            </p:custDataLst>
          </p:nvPr>
        </p:nvSpPr>
        <p:spPr>
          <a:xfrm>
            <a:off x="6956126" y="3432298"/>
            <a:ext cx="4246813" cy="576064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>
            <p:custDataLst>
              <p:tags r:id="rId6"/>
            </p:custDataLst>
          </p:nvPr>
        </p:nvSpPr>
        <p:spPr>
          <a:xfrm>
            <a:off x="7603945" y="3432298"/>
            <a:ext cx="3455034" cy="57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TextBox 86"/>
          <p:cNvSpPr txBox="1"/>
          <p:nvPr>
            <p:custDataLst>
              <p:tags r:id="rId7"/>
            </p:custDataLst>
          </p:nvPr>
        </p:nvSpPr>
        <p:spPr>
          <a:xfrm flipH="1">
            <a:off x="7100086" y="3458720"/>
            <a:ext cx="359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49" name="文本框 9"/>
          <p:cNvSpPr txBox="1"/>
          <p:nvPr>
            <p:custDataLst>
              <p:tags r:id="rId8"/>
            </p:custDataLst>
          </p:nvPr>
        </p:nvSpPr>
        <p:spPr>
          <a:xfrm>
            <a:off x="7830522" y="3501039"/>
            <a:ext cx="2320967" cy="4375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50" name="圆角矩形 12"/>
          <p:cNvSpPr/>
          <p:nvPr>
            <p:custDataLst>
              <p:tags r:id="rId9"/>
            </p:custDataLst>
          </p:nvPr>
        </p:nvSpPr>
        <p:spPr>
          <a:xfrm>
            <a:off x="6956126" y="4152378"/>
            <a:ext cx="4246813" cy="576064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>
            <p:custDataLst>
              <p:tags r:id="rId10"/>
            </p:custDataLst>
          </p:nvPr>
        </p:nvSpPr>
        <p:spPr>
          <a:xfrm>
            <a:off x="7603945" y="4152378"/>
            <a:ext cx="3455034" cy="57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TextBox 90"/>
          <p:cNvSpPr txBox="1"/>
          <p:nvPr>
            <p:custDataLst>
              <p:tags r:id="rId11"/>
            </p:custDataLst>
          </p:nvPr>
        </p:nvSpPr>
        <p:spPr>
          <a:xfrm flipH="1">
            <a:off x="7100086" y="4178800"/>
            <a:ext cx="359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53" name="文本框 9"/>
          <p:cNvSpPr txBox="1"/>
          <p:nvPr>
            <p:custDataLst>
              <p:tags r:id="rId12"/>
            </p:custDataLst>
          </p:nvPr>
        </p:nvSpPr>
        <p:spPr>
          <a:xfrm>
            <a:off x="7830330" y="4220884"/>
            <a:ext cx="3250565" cy="4375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系统展示</a:t>
            </a:r>
          </a:p>
        </p:txBody>
      </p:sp>
      <p:sp>
        <p:nvSpPr>
          <p:cNvPr id="58" name="圆角矩形 16"/>
          <p:cNvSpPr/>
          <p:nvPr>
            <p:custDataLst>
              <p:tags r:id="rId13"/>
            </p:custDataLst>
          </p:nvPr>
        </p:nvSpPr>
        <p:spPr>
          <a:xfrm>
            <a:off x="6956126" y="4873906"/>
            <a:ext cx="4246813" cy="576064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>
            <p:custDataLst>
              <p:tags r:id="rId14"/>
            </p:custDataLst>
          </p:nvPr>
        </p:nvSpPr>
        <p:spPr>
          <a:xfrm>
            <a:off x="7603945" y="4873906"/>
            <a:ext cx="3455034" cy="57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TextBox 94"/>
          <p:cNvSpPr txBox="1"/>
          <p:nvPr>
            <p:custDataLst>
              <p:tags r:id="rId15"/>
            </p:custDataLst>
          </p:nvPr>
        </p:nvSpPr>
        <p:spPr>
          <a:xfrm flipH="1">
            <a:off x="7100086" y="4900328"/>
            <a:ext cx="35989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61" name="文本框 9"/>
          <p:cNvSpPr txBox="1"/>
          <p:nvPr>
            <p:custDataLst>
              <p:tags r:id="rId16"/>
            </p:custDataLst>
          </p:nvPr>
        </p:nvSpPr>
        <p:spPr>
          <a:xfrm>
            <a:off x="7830330" y="4942422"/>
            <a:ext cx="3182620" cy="4375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62" name="圆角矩形 16"/>
          <p:cNvSpPr/>
          <p:nvPr>
            <p:custDataLst>
              <p:tags r:id="rId17"/>
            </p:custDataLst>
          </p:nvPr>
        </p:nvSpPr>
        <p:spPr>
          <a:xfrm>
            <a:off x="6956126" y="5557222"/>
            <a:ext cx="4246813" cy="576064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>
            <p:custDataLst>
              <p:tags r:id="rId18"/>
            </p:custDataLst>
          </p:nvPr>
        </p:nvSpPr>
        <p:spPr>
          <a:xfrm>
            <a:off x="7603945" y="5557222"/>
            <a:ext cx="3455034" cy="57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TextBox 94"/>
          <p:cNvSpPr txBox="1"/>
          <p:nvPr>
            <p:custDataLst>
              <p:tags r:id="rId19"/>
            </p:custDataLst>
          </p:nvPr>
        </p:nvSpPr>
        <p:spPr>
          <a:xfrm flipH="1">
            <a:off x="7100086" y="5583644"/>
            <a:ext cx="35989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65" name="文本框 9"/>
          <p:cNvSpPr txBox="1"/>
          <p:nvPr>
            <p:custDataLst>
              <p:tags r:id="rId20"/>
            </p:custDataLst>
          </p:nvPr>
        </p:nvSpPr>
        <p:spPr>
          <a:xfrm>
            <a:off x="7830330" y="5625738"/>
            <a:ext cx="3182620" cy="4375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致谢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2"/>
          <p:cNvSpPr txBox="1"/>
          <p:nvPr/>
        </p:nvSpPr>
        <p:spPr>
          <a:xfrm>
            <a:off x="5555506" y="3977928"/>
            <a:ext cx="2073639" cy="2092877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12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zh-CN" altLang="en-US" sz="128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38"/>
          <p:cNvSpPr txBox="1"/>
          <p:nvPr/>
        </p:nvSpPr>
        <p:spPr>
          <a:xfrm>
            <a:off x="7390150" y="4631953"/>
            <a:ext cx="2426970" cy="782320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43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895997" y="4134201"/>
            <a:ext cx="5887766" cy="1039339"/>
            <a:chOff x="2385" y="2875"/>
            <a:chExt cx="12095" cy="2553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385" y="2875"/>
              <a:ext cx="2092" cy="2553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4880" y="3684"/>
              <a:ext cx="9600" cy="9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buClrTx/>
                <a:buSzTx/>
                <a:buNone/>
              </a:pPr>
              <a:r>
                <a: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Broadway BT" charset="0"/>
                </a:rPr>
                <a:t>数量多！危害大！检测难！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129020" y="1029335"/>
            <a:ext cx="2015490" cy="1463040"/>
            <a:chOff x="10514" y="7917"/>
            <a:chExt cx="3174" cy="2304"/>
          </a:xfrm>
        </p:grpSpPr>
        <p:pic>
          <p:nvPicPr>
            <p:cNvPr id="18" name="图片 17" descr="google-1-1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514" y="7917"/>
              <a:ext cx="2809" cy="963"/>
            </a:xfrm>
            <a:prstGeom prst="rect">
              <a:avLst/>
            </a:prstGeom>
          </p:spPr>
        </p:pic>
        <p:pic>
          <p:nvPicPr>
            <p:cNvPr id="20" name="图片 19" descr="3890943_bag_cash_currency_dollar_money_icon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514" y="9013"/>
              <a:ext cx="1208" cy="1208"/>
            </a:xfrm>
            <a:prstGeom prst="rect">
              <a:avLst/>
            </a:prstGeom>
          </p:spPr>
        </p:pic>
        <p:sp>
          <p:nvSpPr>
            <p:cNvPr id="25" name="文本框 24"/>
            <p:cNvSpPr txBox="1"/>
            <p:nvPr>
              <p:custDataLst>
                <p:tags r:id="rId1"/>
              </p:custDataLst>
            </p:nvPr>
          </p:nvSpPr>
          <p:spPr>
            <a:xfrm>
              <a:off x="11722" y="9303"/>
              <a:ext cx="1967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苹方 常规" panose="020B0300000000000000" pitchFamily="34" charset="-122"/>
                  <a:cs typeface="Arial" panose="020B0604020202020204" pitchFamily="34" charset="0"/>
                  <a:sym typeface="Broadway BT" charset="0"/>
                </a:rPr>
                <a:t>$1billion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260715" y="1029335"/>
            <a:ext cx="2649220" cy="1749425"/>
            <a:chOff x="13009" y="1621"/>
            <a:chExt cx="4172" cy="2755"/>
          </a:xfrm>
        </p:grpSpPr>
        <p:pic>
          <p:nvPicPr>
            <p:cNvPr id="17" name="图片 16" descr="microsoft-6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3343" y="1621"/>
              <a:ext cx="3769" cy="805"/>
            </a:xfrm>
            <a:prstGeom prst="rect">
              <a:avLst/>
            </a:prstGeom>
          </p:spPr>
        </p:pic>
        <p:pic>
          <p:nvPicPr>
            <p:cNvPr id="22" name="图片 21" descr="3890943_bag_cash_currency_dollar_money_icon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417" y="2653"/>
              <a:ext cx="1208" cy="1208"/>
            </a:xfrm>
            <a:prstGeom prst="rect">
              <a:avLst/>
            </a:prstGeom>
          </p:spPr>
        </p:pic>
        <p:pic>
          <p:nvPicPr>
            <p:cNvPr id="24" name="图片 23" descr="3890943_bag_cash_currency_dollar_money_icon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009" y="3168"/>
              <a:ext cx="1208" cy="1208"/>
            </a:xfrm>
            <a:prstGeom prst="rect">
              <a:avLst/>
            </a:prstGeom>
          </p:spPr>
        </p:pic>
        <p:pic>
          <p:nvPicPr>
            <p:cNvPr id="23" name="图片 22" descr="3890943_bag_cash_currency_dollar_money_icon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727" y="3168"/>
              <a:ext cx="1208" cy="1208"/>
            </a:xfrm>
            <a:prstGeom prst="rect">
              <a:avLst/>
            </a:prstGeom>
          </p:spPr>
        </p:pic>
        <p:sp>
          <p:nvSpPr>
            <p:cNvPr id="26" name="文本框 25"/>
            <p:cNvSpPr txBox="1"/>
            <p:nvPr/>
          </p:nvSpPr>
          <p:spPr>
            <a:xfrm>
              <a:off x="15215" y="3007"/>
              <a:ext cx="1967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苹方 常规" panose="020B0300000000000000" pitchFamily="34" charset="-122"/>
                  <a:cs typeface="Arial" panose="020B0604020202020204" pitchFamily="34" charset="0"/>
                  <a:sym typeface="Broadway BT" charset="0"/>
                </a:rPr>
                <a:t>$5billion</a:t>
              </a: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8693" y="1148956"/>
            <a:ext cx="2798120" cy="229419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8470" y="3949693"/>
            <a:ext cx="4515746" cy="164984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54760" y="6031230"/>
            <a:ext cx="832675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900">
                <a:sym typeface="+mn-ea"/>
              </a:rPr>
              <a:t>[1]</a:t>
            </a:r>
            <a:r>
              <a:rPr lang="en-US" altLang="zh-CN" sz="900"/>
              <a:t> </a:t>
            </a:r>
            <a:r>
              <a:rPr lang="zh-CN" altLang="en-US" sz="900"/>
              <a:t>https://baike.baidu.com/item/7%C2%B719%E5%BE%AE%E8%BD%AF%E8%93%9D%E5%B1%8F%E4%BA%8B%E4%BB%B6/64667970</a:t>
            </a:r>
          </a:p>
          <a:p>
            <a:r>
              <a:rPr lang="en-US" altLang="zh-CN" sz="900"/>
              <a:t>[2] https://www.huaweicloud.com/special/baipishu-anquan.html</a:t>
            </a:r>
          </a:p>
          <a:p>
            <a:r>
              <a:rPr lang="en-US" altLang="zh-CN" sz="900"/>
              <a:t>[3] https://www.csoonline.com/article/3843143/google-paid-out-almost-120-million-to-bug-hunters-last-year.html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930525" y="3581400"/>
            <a:ext cx="123444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900"/>
              <a:t>7·19</a:t>
            </a:r>
            <a:r>
              <a:rPr lang="zh-CN" altLang="en-US" sz="900"/>
              <a:t>微软蓝屏事件</a:t>
            </a:r>
            <a:r>
              <a:rPr lang="en-US" altLang="zh-CN" sz="900" baseline="30000"/>
              <a:t>[1]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68905" y="5700395"/>
            <a:ext cx="175768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900"/>
              <a:t>华为</a:t>
            </a:r>
            <a:r>
              <a:rPr lang="en-US" altLang="zh-CN" sz="900"/>
              <a:t>2024</a:t>
            </a:r>
            <a:r>
              <a:rPr lang="zh-CN" altLang="en-US" sz="900"/>
              <a:t>漏洞管理白皮书发布</a:t>
            </a:r>
            <a:r>
              <a:rPr lang="en-US" altLang="zh-CN" sz="900" baseline="30000"/>
              <a:t>[2]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052435" y="2884170"/>
            <a:ext cx="123444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900"/>
              <a:t>谷歌漏洞悬赏计划</a:t>
            </a:r>
            <a:r>
              <a:rPr lang="en-US" altLang="zh-CN" sz="900" baseline="30000"/>
              <a:t>[3]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国内外研究现状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76580" y="901700"/>
            <a:ext cx="11151870" cy="5269865"/>
            <a:chOff x="576580" y="901700"/>
            <a:chExt cx="11151870" cy="5269865"/>
          </a:xfrm>
        </p:grpSpPr>
        <p:pic>
          <p:nvPicPr>
            <p:cNvPr id="3" name="图片 2" descr="Checkmarx-logo-2019-horizontal-4-1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57555" y="4241800"/>
              <a:ext cx="1905000" cy="247650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576580" y="3599815"/>
              <a:ext cx="2204720" cy="1049020"/>
            </a:xfrm>
            <a:prstGeom prst="rect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 descr="2814506_c++_coding_filetype_programming_extension_icon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124585" y="3710940"/>
              <a:ext cx="469900" cy="469900"/>
            </a:xfrm>
            <a:prstGeom prst="rect">
              <a:avLst/>
            </a:prstGeom>
          </p:spPr>
        </p:pic>
        <p:pic>
          <p:nvPicPr>
            <p:cNvPr id="7" name="图片 6" descr="9040383_filetype_java_icon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678940" y="3710940"/>
              <a:ext cx="470535" cy="470535"/>
            </a:xfrm>
            <a:prstGeom prst="rect">
              <a:avLst/>
            </a:prstGeom>
          </p:spPr>
        </p:pic>
        <p:pic>
          <p:nvPicPr>
            <p:cNvPr id="10" name="图片 9" descr="5172998_bug_danger_internet_malware_search_icon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211320" y="3619500"/>
              <a:ext cx="1085850" cy="1085850"/>
            </a:xfrm>
            <a:prstGeom prst="rect">
              <a:avLst/>
            </a:prstGeom>
          </p:spPr>
        </p:pic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131945" y="3619500"/>
              <a:ext cx="1304925" cy="2008505"/>
            </a:xfrm>
            <a:prstGeom prst="rect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2"/>
              </p:custDataLst>
            </p:nvPr>
          </p:nvSpPr>
          <p:spPr>
            <a:xfrm>
              <a:off x="4078605" y="4705350"/>
              <a:ext cx="1399540" cy="5835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ea typeface="苹方 常规" panose="020B0300000000000000" pitchFamily="34" charset="-122"/>
                  <a:cs typeface="Arial" panose="020B0604020202020204" pitchFamily="34" charset="0"/>
                  <a:sym typeface="Broadway BT" charset="0"/>
                </a:rPr>
                <a:t>潜在的</a:t>
              </a:r>
            </a:p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ea typeface="苹方 常规" panose="020B0300000000000000" pitchFamily="34" charset="-122"/>
                  <a:cs typeface="Arial" panose="020B0604020202020204" pitchFamily="34" charset="0"/>
                  <a:sym typeface="Broadway BT" charset="0"/>
                </a:rPr>
                <a:t>漏洞位置</a:t>
              </a:r>
            </a:p>
          </p:txBody>
        </p:sp>
        <p:cxnSp>
          <p:nvCxnSpPr>
            <p:cNvPr id="15" name="直接箭头连接符 14"/>
            <p:cNvCxnSpPr/>
            <p:nvPr/>
          </p:nvCxnSpPr>
          <p:spPr>
            <a:xfrm>
              <a:off x="2981960" y="4043045"/>
              <a:ext cx="996950" cy="0"/>
            </a:xfrm>
            <a:prstGeom prst="straightConnector1">
              <a:avLst/>
            </a:prstGeom>
            <a:ln w="25400">
              <a:solidFill>
                <a:schemeClr val="bg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2851785" y="3725545"/>
              <a:ext cx="1186180" cy="24130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Broadway BT" charset="0"/>
                </a:rPr>
                <a:t>分析</a:t>
              </a:r>
            </a:p>
          </p:txBody>
        </p:sp>
        <p:pic>
          <p:nvPicPr>
            <p:cNvPr id="17" name="图片 16" descr="economist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213225" y="1457325"/>
              <a:ext cx="1177925" cy="1177925"/>
            </a:xfrm>
            <a:prstGeom prst="rect">
              <a:avLst/>
            </a:prstGeom>
          </p:spPr>
        </p:pic>
        <p:sp>
          <p:nvSpPr>
            <p:cNvPr id="19" name="矩形 18"/>
            <p:cNvSpPr/>
            <p:nvPr>
              <p:custDataLst>
                <p:tags r:id="rId4"/>
              </p:custDataLst>
            </p:nvPr>
          </p:nvSpPr>
          <p:spPr>
            <a:xfrm>
              <a:off x="4131945" y="1308100"/>
              <a:ext cx="1304925" cy="1500505"/>
            </a:xfrm>
            <a:prstGeom prst="rect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/>
            <p:cNvCxnSpPr/>
            <p:nvPr>
              <p:custDataLst>
                <p:tags r:id="rId5"/>
              </p:custDataLst>
            </p:nvPr>
          </p:nvCxnSpPr>
          <p:spPr>
            <a:xfrm flipH="1">
              <a:off x="4752975" y="2929890"/>
              <a:ext cx="2540" cy="599440"/>
            </a:xfrm>
            <a:prstGeom prst="straightConnector1">
              <a:avLst/>
            </a:prstGeom>
            <a:ln w="25400">
              <a:solidFill>
                <a:schemeClr val="bg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>
              <p:custDataLst>
                <p:tags r:id="rId6"/>
              </p:custDataLst>
            </p:nvPr>
          </p:nvSpPr>
          <p:spPr>
            <a:xfrm>
              <a:off x="4752975" y="3006725"/>
              <a:ext cx="1186180" cy="24130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Broadway BT" charset="0"/>
                </a:rPr>
                <a:t>分析</a:t>
              </a:r>
            </a:p>
          </p:txBody>
        </p:sp>
        <p:cxnSp>
          <p:nvCxnSpPr>
            <p:cNvPr id="156" name="直接箭头连接符 155"/>
            <p:cNvCxnSpPr/>
            <p:nvPr>
              <p:custDataLst>
                <p:tags r:id="rId7"/>
              </p:custDataLst>
            </p:nvPr>
          </p:nvCxnSpPr>
          <p:spPr>
            <a:xfrm flipV="1">
              <a:off x="5941695" y="3596005"/>
              <a:ext cx="988695" cy="989330"/>
            </a:xfrm>
            <a:prstGeom prst="straightConnector1">
              <a:avLst/>
            </a:prstGeom>
            <a:ln w="25400">
              <a:solidFill>
                <a:schemeClr val="bg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8" name="组合 157"/>
            <p:cNvGrpSpPr/>
            <p:nvPr/>
          </p:nvGrpSpPr>
          <p:grpSpPr>
            <a:xfrm>
              <a:off x="5933440" y="4573905"/>
              <a:ext cx="996950" cy="993140"/>
              <a:chOff x="10105" y="7321"/>
              <a:chExt cx="1570" cy="1564"/>
            </a:xfrm>
          </p:grpSpPr>
          <p:cxnSp>
            <p:nvCxnSpPr>
              <p:cNvPr id="24" name="直接箭头连接符 23"/>
              <p:cNvCxnSpPr/>
              <p:nvPr>
                <p:custDataLst>
                  <p:tags r:id="rId20"/>
                </p:custDataLst>
              </p:nvPr>
            </p:nvCxnSpPr>
            <p:spPr>
              <a:xfrm>
                <a:off x="10105" y="7321"/>
                <a:ext cx="1570" cy="0"/>
              </a:xfrm>
              <a:prstGeom prst="straightConnector1">
                <a:avLst/>
              </a:prstGeom>
              <a:ln w="25400">
                <a:solidFill>
                  <a:schemeClr val="bg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7" name="直接箭头连接符 156"/>
              <p:cNvCxnSpPr/>
              <p:nvPr>
                <p:custDataLst>
                  <p:tags r:id="rId21"/>
                </p:custDataLst>
              </p:nvPr>
            </p:nvCxnSpPr>
            <p:spPr>
              <a:xfrm>
                <a:off x="10122" y="7321"/>
                <a:ext cx="1464" cy="1565"/>
              </a:xfrm>
              <a:prstGeom prst="straightConnector1">
                <a:avLst/>
              </a:prstGeom>
              <a:ln w="25400">
                <a:solidFill>
                  <a:schemeClr val="bg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pic>
          <p:nvPicPr>
            <p:cNvPr id="159" name="图片 158" descr="challenges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600950" y="1104900"/>
              <a:ext cx="1187450" cy="1187450"/>
            </a:xfrm>
            <a:prstGeom prst="rect">
              <a:avLst/>
            </a:prstGeom>
          </p:spPr>
        </p:pic>
        <p:sp>
          <p:nvSpPr>
            <p:cNvPr id="160" name="椭圆 159"/>
            <p:cNvSpPr/>
            <p:nvPr/>
          </p:nvSpPr>
          <p:spPr>
            <a:xfrm>
              <a:off x="6996430" y="901700"/>
              <a:ext cx="2395855" cy="1685925"/>
            </a:xfrm>
            <a:prstGeom prst="ellipse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椭圆 160"/>
            <p:cNvSpPr/>
            <p:nvPr>
              <p:custDataLst>
                <p:tags r:id="rId8"/>
              </p:custDataLst>
            </p:nvPr>
          </p:nvSpPr>
          <p:spPr>
            <a:xfrm>
              <a:off x="6873875" y="2449830"/>
              <a:ext cx="396875" cy="279400"/>
            </a:xfrm>
            <a:prstGeom prst="ellipse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椭圆 161"/>
            <p:cNvSpPr/>
            <p:nvPr>
              <p:custDataLst>
                <p:tags r:id="rId9"/>
              </p:custDataLst>
            </p:nvPr>
          </p:nvSpPr>
          <p:spPr>
            <a:xfrm>
              <a:off x="6477000" y="2808605"/>
              <a:ext cx="396875" cy="279400"/>
            </a:xfrm>
            <a:prstGeom prst="ellipse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文本框 162"/>
            <p:cNvSpPr txBox="1"/>
            <p:nvPr>
              <p:custDataLst>
                <p:tags r:id="rId10"/>
              </p:custDataLst>
            </p:nvPr>
          </p:nvSpPr>
          <p:spPr>
            <a:xfrm>
              <a:off x="9566275" y="1624330"/>
              <a:ext cx="2107565" cy="24130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Broadway BT" charset="0"/>
                </a:rPr>
                <a:t>人力</a:t>
              </a:r>
            </a:p>
          </p:txBody>
        </p:sp>
        <p:pic>
          <p:nvPicPr>
            <p:cNvPr id="165" name="图片 164" descr="cwe_logo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7694930" y="3239135"/>
              <a:ext cx="1543685" cy="554990"/>
            </a:xfrm>
            <a:prstGeom prst="rect">
              <a:avLst/>
            </a:prstGeom>
          </p:spPr>
        </p:pic>
        <p:sp>
          <p:nvSpPr>
            <p:cNvPr id="166" name="矩形 165"/>
            <p:cNvSpPr/>
            <p:nvPr>
              <p:custDataLst>
                <p:tags r:id="rId11"/>
              </p:custDataLst>
            </p:nvPr>
          </p:nvSpPr>
          <p:spPr>
            <a:xfrm>
              <a:off x="7465695" y="3088005"/>
              <a:ext cx="1943100" cy="3083560"/>
            </a:xfrm>
            <a:prstGeom prst="rect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67" name="图片 166" descr="CVSS_4.0-complete-signature-RGB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7638415" y="4069080"/>
              <a:ext cx="1600200" cy="869315"/>
            </a:xfrm>
            <a:prstGeom prst="rect">
              <a:avLst/>
            </a:prstGeom>
          </p:spPr>
        </p:pic>
        <p:pic>
          <p:nvPicPr>
            <p:cNvPr id="168" name="图片 167" descr="repair-tools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8246745" y="5137150"/>
              <a:ext cx="541655" cy="541655"/>
            </a:xfrm>
            <a:prstGeom prst="rect">
              <a:avLst/>
            </a:prstGeom>
          </p:spPr>
        </p:pic>
        <p:sp>
          <p:nvSpPr>
            <p:cNvPr id="169" name="文本框 168"/>
            <p:cNvSpPr txBox="1"/>
            <p:nvPr>
              <p:custDataLst>
                <p:tags r:id="rId12"/>
              </p:custDataLst>
            </p:nvPr>
          </p:nvSpPr>
          <p:spPr>
            <a:xfrm>
              <a:off x="8033385" y="3827780"/>
              <a:ext cx="1186180" cy="24130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zh-CN" altLang="en-US" sz="1600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Broadway BT" charset="0"/>
                </a:rPr>
                <a:t>漏洞类型</a:t>
              </a:r>
            </a:p>
          </p:txBody>
        </p:sp>
        <p:sp>
          <p:nvSpPr>
            <p:cNvPr id="171" name="文本框 170"/>
            <p:cNvSpPr txBox="1"/>
            <p:nvPr>
              <p:custDataLst>
                <p:tags r:id="rId13"/>
              </p:custDataLst>
            </p:nvPr>
          </p:nvSpPr>
          <p:spPr>
            <a:xfrm>
              <a:off x="8033385" y="4826635"/>
              <a:ext cx="1186180" cy="24130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zh-CN" altLang="en-US" sz="1600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Broadway BT" charset="0"/>
                </a:rPr>
                <a:t>漏洞评分</a:t>
              </a:r>
            </a:p>
          </p:txBody>
        </p:sp>
        <p:sp>
          <p:nvSpPr>
            <p:cNvPr id="172" name="文本框 171"/>
            <p:cNvSpPr txBox="1"/>
            <p:nvPr>
              <p:custDataLst>
                <p:tags r:id="rId14"/>
              </p:custDataLst>
            </p:nvPr>
          </p:nvSpPr>
          <p:spPr>
            <a:xfrm>
              <a:off x="8033385" y="5748020"/>
              <a:ext cx="1186180" cy="24130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zh-CN" altLang="en-US" sz="1600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Broadway BT" charset="0"/>
                </a:rPr>
                <a:t>漏洞修复</a:t>
              </a:r>
            </a:p>
          </p:txBody>
        </p:sp>
        <p:pic>
          <p:nvPicPr>
            <p:cNvPr id="173" name="图片 172" descr="codin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0808335" y="3966845"/>
              <a:ext cx="920115" cy="920115"/>
            </a:xfrm>
            <a:prstGeom prst="rect">
              <a:avLst/>
            </a:prstGeom>
          </p:spPr>
        </p:pic>
        <p:cxnSp>
          <p:nvCxnSpPr>
            <p:cNvPr id="174" name="直接箭头连接符 173"/>
            <p:cNvCxnSpPr/>
            <p:nvPr>
              <p:custDataLst>
                <p:tags r:id="rId15"/>
              </p:custDataLst>
            </p:nvPr>
          </p:nvCxnSpPr>
          <p:spPr>
            <a:xfrm>
              <a:off x="9696450" y="4559300"/>
              <a:ext cx="996950" cy="0"/>
            </a:xfrm>
            <a:prstGeom prst="straightConnector1">
              <a:avLst/>
            </a:prstGeom>
            <a:ln w="25400">
              <a:solidFill>
                <a:schemeClr val="bg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5" name="文本框 174"/>
            <p:cNvSpPr txBox="1"/>
            <p:nvPr>
              <p:custDataLst>
                <p:tags r:id="rId16"/>
              </p:custDataLst>
            </p:nvPr>
          </p:nvSpPr>
          <p:spPr>
            <a:xfrm>
              <a:off x="9566275" y="4241800"/>
              <a:ext cx="1186180" cy="24130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Broadway BT" charset="0"/>
                </a:rPr>
                <a:t>报告</a:t>
              </a:r>
            </a:p>
          </p:txBody>
        </p:sp>
        <p:sp>
          <p:nvSpPr>
            <p:cNvPr id="176" name="文本框 175"/>
            <p:cNvSpPr txBox="1"/>
            <p:nvPr>
              <p:custDataLst>
                <p:tags r:id="rId17"/>
              </p:custDataLst>
            </p:nvPr>
          </p:nvSpPr>
          <p:spPr>
            <a:xfrm>
              <a:off x="5827395" y="3629025"/>
              <a:ext cx="930910" cy="24130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Broadway BT" charset="0"/>
                </a:rPr>
                <a:t>手动</a:t>
              </a:r>
            </a:p>
          </p:txBody>
        </p:sp>
        <p:sp>
          <p:nvSpPr>
            <p:cNvPr id="177" name="文本框 176"/>
            <p:cNvSpPr txBox="1"/>
            <p:nvPr>
              <p:custDataLst>
                <p:tags r:id="rId18"/>
              </p:custDataLst>
            </p:nvPr>
          </p:nvSpPr>
          <p:spPr>
            <a:xfrm>
              <a:off x="5752465" y="5065395"/>
              <a:ext cx="930910" cy="24130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Broadway BT" charset="0"/>
                </a:rPr>
                <a:t>手动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Broadway BT" charset="0"/>
              </a:endParaRPr>
            </a:p>
            <a:p>
              <a:pPr algn="l"/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Broadway BT" charset="0"/>
              </a:endParaRPr>
            </a:p>
          </p:txBody>
        </p:sp>
        <p:sp>
          <p:nvSpPr>
            <p:cNvPr id="178" name="文本框 177"/>
            <p:cNvSpPr txBox="1"/>
            <p:nvPr>
              <p:custDataLst>
                <p:tags r:id="rId19"/>
              </p:custDataLst>
            </p:nvPr>
          </p:nvSpPr>
          <p:spPr>
            <a:xfrm>
              <a:off x="6379845" y="4251325"/>
              <a:ext cx="930910" cy="24130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Broadway BT" charset="0"/>
                </a:rPr>
                <a:t>手动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Broadway BT" charset="0"/>
              </a:endParaRPr>
            </a:p>
          </p:txBody>
        </p:sp>
        <p:pic>
          <p:nvPicPr>
            <p:cNvPr id="6" name="图片 5" descr="错误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7506017" y="1047478"/>
              <a:ext cx="1376680" cy="137668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相关工作存在的不足</a:t>
            </a:r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1329690" y="1013460"/>
            <a:ext cx="1076325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spc="15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大语言模型应用于软件漏洞检测</a:t>
            </a:r>
            <a:r>
              <a:rPr lang="zh-CN" altLang="en-US" sz="1200" b="1" spc="15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（</a:t>
            </a:r>
            <a:r>
              <a:rPr lang="en-US" altLang="zh-CN" sz="1200" b="1" spc="15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ChatGPT...)</a:t>
            </a:r>
            <a:endParaRPr lang="en-US" altLang="zh-CN" sz="1200" b="1" spc="150" dirty="0">
              <a:latin typeface="Arial" panose="020B0604020202020204" pitchFamily="34" charset="0"/>
              <a:ea typeface="苹方 常规" panose="020B0300000000000000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5619692" y="2443228"/>
            <a:ext cx="61150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spc="300" dirty="0">
                <a:solidFill>
                  <a:srgbClr val="0070C0"/>
                </a:solidFill>
                <a:latin typeface="Arial" panose="020B0604020202020204" pitchFamily="34" charset="0"/>
                <a:ea typeface="苹方 常规" panose="020B0300000000000000" pitchFamily="34" charset="-122"/>
                <a:cs typeface="Arial" panose="020B0604020202020204" pitchFamily="34" charset="0"/>
              </a:rPr>
              <a:t>不足之处：</a:t>
            </a: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5638742" y="3213483"/>
            <a:ext cx="6096000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传统方法只将纯代码作为输入，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没有更多的结构信息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ClrTx/>
              <a:buSzTx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ClrTx/>
              <a:buSzTx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2. </a:t>
            </a:r>
            <a:r>
              <a:rPr lang="zh-CN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使用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zero shot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，模型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没有足够多的领域知识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</a:p>
          <a:p>
            <a:pPr algn="l">
              <a:buClrTx/>
              <a:buSzTx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 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提示样例的设计很随机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，不是专为漏洞检测而设计的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l">
              <a:buClrTx/>
              <a:buSzTx/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4.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预训练模型和预训练微调范式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输出格式存在天然差距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</a:p>
          <a:p>
            <a:pPr algn="l">
              <a:buClrTx/>
              <a:buSzTx/>
              <a:buNone/>
            </a:pP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7" name="图片 16" descr="limited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 rot="2700092">
            <a:off x="2891716" y="932856"/>
            <a:ext cx="698644" cy="69864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427595" y="1864273"/>
            <a:ext cx="3626889" cy="400708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28012" y="5914390"/>
            <a:ext cx="4167736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None/>
            </a:pPr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[1] Fu, Michael, et al. "</a:t>
            </a:r>
            <a:r>
              <a:rPr lang="en-US" altLang="zh-CN" sz="1000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Chatgpt</a:t>
            </a:r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for vulnerability detection, classification, and repair: How far are we?." arXiv preprint arXiv:2310.09810 (2023).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2"/>
          <p:cNvSpPr txBox="1"/>
          <p:nvPr/>
        </p:nvSpPr>
        <p:spPr>
          <a:xfrm>
            <a:off x="6222256" y="3977928"/>
            <a:ext cx="2073639" cy="2092877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12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zh-CN" altLang="en-US" sz="128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38"/>
          <p:cNvSpPr txBox="1"/>
          <p:nvPr/>
        </p:nvSpPr>
        <p:spPr>
          <a:xfrm>
            <a:off x="8255004" y="4572311"/>
            <a:ext cx="2451947" cy="784826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43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课题研究内容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3760572" y="3082556"/>
            <a:ext cx="261468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l" defTabSz="1450975"/>
            <a:r>
              <a:rPr lang="zh-CN" altLang="en-US" sz="2000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系统的设计与实现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760572" y="3610292"/>
            <a:ext cx="3433068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开发出基于</a:t>
            </a:r>
            <a:r>
              <a:rPr lang="en-US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的插件工具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reeform 979"/>
          <p:cNvSpPr>
            <a:spLocks noEditPoints="1"/>
          </p:cNvSpPr>
          <p:nvPr/>
        </p:nvSpPr>
        <p:spPr bwMode="auto">
          <a:xfrm>
            <a:off x="2891363" y="3170017"/>
            <a:ext cx="809678" cy="724054"/>
          </a:xfrm>
          <a:custGeom>
            <a:avLst/>
            <a:gdLst>
              <a:gd name="T0" fmla="*/ 242 w 364"/>
              <a:gd name="T1" fmla="*/ 177 h 326"/>
              <a:gd name="T2" fmla="*/ 202 w 364"/>
              <a:gd name="T3" fmla="*/ 142 h 326"/>
              <a:gd name="T4" fmla="*/ 188 w 364"/>
              <a:gd name="T5" fmla="*/ 100 h 326"/>
              <a:gd name="T6" fmla="*/ 135 w 364"/>
              <a:gd name="T7" fmla="*/ 104 h 326"/>
              <a:gd name="T8" fmla="*/ 95 w 364"/>
              <a:gd name="T9" fmla="*/ 84 h 326"/>
              <a:gd name="T10" fmla="*/ 60 w 364"/>
              <a:gd name="T11" fmla="*/ 124 h 326"/>
              <a:gd name="T12" fmla="*/ 18 w 364"/>
              <a:gd name="T13" fmla="*/ 138 h 326"/>
              <a:gd name="T14" fmla="*/ 22 w 364"/>
              <a:gd name="T15" fmla="*/ 191 h 326"/>
              <a:gd name="T16" fmla="*/ 2 w 364"/>
              <a:gd name="T17" fmla="*/ 231 h 326"/>
              <a:gd name="T18" fmla="*/ 42 w 364"/>
              <a:gd name="T19" fmla="*/ 266 h 326"/>
              <a:gd name="T20" fmla="*/ 56 w 364"/>
              <a:gd name="T21" fmla="*/ 308 h 326"/>
              <a:gd name="T22" fmla="*/ 109 w 364"/>
              <a:gd name="T23" fmla="*/ 304 h 326"/>
              <a:gd name="T24" fmla="*/ 149 w 364"/>
              <a:gd name="T25" fmla="*/ 324 h 326"/>
              <a:gd name="T26" fmla="*/ 184 w 364"/>
              <a:gd name="T27" fmla="*/ 283 h 326"/>
              <a:gd name="T28" fmla="*/ 226 w 364"/>
              <a:gd name="T29" fmla="*/ 270 h 326"/>
              <a:gd name="T30" fmla="*/ 222 w 364"/>
              <a:gd name="T31" fmla="*/ 216 h 326"/>
              <a:gd name="T32" fmla="*/ 127 w 364"/>
              <a:gd name="T33" fmla="*/ 280 h 326"/>
              <a:gd name="T34" fmla="*/ 117 w 364"/>
              <a:gd name="T35" fmla="*/ 127 h 326"/>
              <a:gd name="T36" fmla="*/ 127 w 364"/>
              <a:gd name="T37" fmla="*/ 280 h 326"/>
              <a:gd name="T38" fmla="*/ 364 w 364"/>
              <a:gd name="T39" fmla="*/ 90 h 326"/>
              <a:gd name="T40" fmla="*/ 348 w 364"/>
              <a:gd name="T41" fmla="*/ 66 h 326"/>
              <a:gd name="T42" fmla="*/ 345 w 364"/>
              <a:gd name="T43" fmla="*/ 29 h 326"/>
              <a:gd name="T44" fmla="*/ 316 w 364"/>
              <a:gd name="T45" fmla="*/ 24 h 326"/>
              <a:gd name="T46" fmla="*/ 289 w 364"/>
              <a:gd name="T47" fmla="*/ 0 h 326"/>
              <a:gd name="T48" fmla="*/ 264 w 364"/>
              <a:gd name="T49" fmla="*/ 16 h 326"/>
              <a:gd name="T50" fmla="*/ 228 w 364"/>
              <a:gd name="T51" fmla="*/ 19 h 326"/>
              <a:gd name="T52" fmla="*/ 222 w 364"/>
              <a:gd name="T53" fmla="*/ 48 h 326"/>
              <a:gd name="T54" fmla="*/ 198 w 364"/>
              <a:gd name="T55" fmla="*/ 75 h 326"/>
              <a:gd name="T56" fmla="*/ 215 w 364"/>
              <a:gd name="T57" fmla="*/ 100 h 326"/>
              <a:gd name="T58" fmla="*/ 217 w 364"/>
              <a:gd name="T59" fmla="*/ 136 h 326"/>
              <a:gd name="T60" fmla="*/ 247 w 364"/>
              <a:gd name="T61" fmla="*/ 142 h 326"/>
              <a:gd name="T62" fmla="*/ 274 w 364"/>
              <a:gd name="T63" fmla="*/ 166 h 326"/>
              <a:gd name="T64" fmla="*/ 299 w 364"/>
              <a:gd name="T65" fmla="*/ 149 h 326"/>
              <a:gd name="T66" fmla="*/ 335 w 364"/>
              <a:gd name="T67" fmla="*/ 147 h 326"/>
              <a:gd name="T68" fmla="*/ 340 w 364"/>
              <a:gd name="T69" fmla="*/ 117 h 326"/>
              <a:gd name="T70" fmla="*/ 285 w 364"/>
              <a:gd name="T71" fmla="*/ 135 h 326"/>
              <a:gd name="T72" fmla="*/ 278 w 364"/>
              <a:gd name="T73" fmla="*/ 31 h 326"/>
              <a:gd name="T74" fmla="*/ 285 w 364"/>
              <a:gd name="T75" fmla="*/ 135 h 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64" h="326">
                <a:moveTo>
                  <a:pt x="244" y="215"/>
                </a:moveTo>
                <a:cubicBezTo>
                  <a:pt x="242" y="177"/>
                  <a:pt x="242" y="177"/>
                  <a:pt x="242" y="177"/>
                </a:cubicBezTo>
                <a:cubicBezTo>
                  <a:pt x="219" y="179"/>
                  <a:pt x="219" y="179"/>
                  <a:pt x="219" y="179"/>
                </a:cubicBezTo>
                <a:cubicBezTo>
                  <a:pt x="216" y="165"/>
                  <a:pt x="210" y="153"/>
                  <a:pt x="202" y="142"/>
                </a:cubicBezTo>
                <a:cubicBezTo>
                  <a:pt x="216" y="125"/>
                  <a:pt x="216" y="125"/>
                  <a:pt x="216" y="125"/>
                </a:cubicBezTo>
                <a:cubicBezTo>
                  <a:pt x="188" y="100"/>
                  <a:pt x="188" y="100"/>
                  <a:pt x="188" y="100"/>
                </a:cubicBezTo>
                <a:cubicBezTo>
                  <a:pt x="173" y="117"/>
                  <a:pt x="173" y="117"/>
                  <a:pt x="173" y="117"/>
                </a:cubicBezTo>
                <a:cubicBezTo>
                  <a:pt x="161" y="110"/>
                  <a:pt x="148" y="106"/>
                  <a:pt x="135" y="104"/>
                </a:cubicBezTo>
                <a:cubicBezTo>
                  <a:pt x="133" y="81"/>
                  <a:pt x="133" y="81"/>
                  <a:pt x="133" y="81"/>
                </a:cubicBezTo>
                <a:cubicBezTo>
                  <a:pt x="95" y="84"/>
                  <a:pt x="95" y="84"/>
                  <a:pt x="95" y="84"/>
                </a:cubicBezTo>
                <a:cubicBezTo>
                  <a:pt x="97" y="106"/>
                  <a:pt x="97" y="106"/>
                  <a:pt x="97" y="106"/>
                </a:cubicBezTo>
                <a:cubicBezTo>
                  <a:pt x="83" y="110"/>
                  <a:pt x="71" y="116"/>
                  <a:pt x="60" y="124"/>
                </a:cubicBezTo>
                <a:cubicBezTo>
                  <a:pt x="43" y="109"/>
                  <a:pt x="43" y="109"/>
                  <a:pt x="43" y="109"/>
                </a:cubicBezTo>
                <a:cubicBezTo>
                  <a:pt x="18" y="138"/>
                  <a:pt x="18" y="138"/>
                  <a:pt x="18" y="138"/>
                </a:cubicBezTo>
                <a:cubicBezTo>
                  <a:pt x="35" y="153"/>
                  <a:pt x="35" y="153"/>
                  <a:pt x="35" y="153"/>
                </a:cubicBezTo>
                <a:cubicBezTo>
                  <a:pt x="28" y="164"/>
                  <a:pt x="24" y="177"/>
                  <a:pt x="22" y="191"/>
                </a:cubicBezTo>
                <a:cubicBezTo>
                  <a:pt x="0" y="193"/>
                  <a:pt x="0" y="193"/>
                  <a:pt x="0" y="193"/>
                </a:cubicBezTo>
                <a:cubicBezTo>
                  <a:pt x="2" y="231"/>
                  <a:pt x="2" y="231"/>
                  <a:pt x="2" y="231"/>
                </a:cubicBezTo>
                <a:cubicBezTo>
                  <a:pt x="25" y="229"/>
                  <a:pt x="25" y="229"/>
                  <a:pt x="25" y="229"/>
                </a:cubicBezTo>
                <a:cubicBezTo>
                  <a:pt x="28" y="243"/>
                  <a:pt x="34" y="255"/>
                  <a:pt x="42" y="266"/>
                </a:cubicBezTo>
                <a:cubicBezTo>
                  <a:pt x="28" y="282"/>
                  <a:pt x="28" y="282"/>
                  <a:pt x="28" y="282"/>
                </a:cubicBezTo>
                <a:cubicBezTo>
                  <a:pt x="56" y="308"/>
                  <a:pt x="56" y="308"/>
                  <a:pt x="56" y="308"/>
                </a:cubicBezTo>
                <a:cubicBezTo>
                  <a:pt x="71" y="291"/>
                  <a:pt x="71" y="291"/>
                  <a:pt x="71" y="291"/>
                </a:cubicBezTo>
                <a:cubicBezTo>
                  <a:pt x="83" y="297"/>
                  <a:pt x="96" y="302"/>
                  <a:pt x="109" y="304"/>
                </a:cubicBezTo>
                <a:cubicBezTo>
                  <a:pt x="111" y="326"/>
                  <a:pt x="111" y="326"/>
                  <a:pt x="111" y="326"/>
                </a:cubicBezTo>
                <a:cubicBezTo>
                  <a:pt x="149" y="324"/>
                  <a:pt x="149" y="324"/>
                  <a:pt x="149" y="324"/>
                </a:cubicBezTo>
                <a:cubicBezTo>
                  <a:pt x="147" y="301"/>
                  <a:pt x="147" y="301"/>
                  <a:pt x="147" y="301"/>
                </a:cubicBezTo>
                <a:cubicBezTo>
                  <a:pt x="161" y="298"/>
                  <a:pt x="173" y="292"/>
                  <a:pt x="184" y="283"/>
                </a:cubicBezTo>
                <a:cubicBezTo>
                  <a:pt x="201" y="298"/>
                  <a:pt x="201" y="298"/>
                  <a:pt x="201" y="298"/>
                </a:cubicBezTo>
                <a:cubicBezTo>
                  <a:pt x="226" y="270"/>
                  <a:pt x="226" y="270"/>
                  <a:pt x="226" y="270"/>
                </a:cubicBezTo>
                <a:cubicBezTo>
                  <a:pt x="209" y="255"/>
                  <a:pt x="209" y="255"/>
                  <a:pt x="209" y="255"/>
                </a:cubicBezTo>
                <a:cubicBezTo>
                  <a:pt x="216" y="243"/>
                  <a:pt x="220" y="230"/>
                  <a:pt x="222" y="216"/>
                </a:cubicBezTo>
                <a:lnTo>
                  <a:pt x="244" y="215"/>
                </a:lnTo>
                <a:close/>
                <a:moveTo>
                  <a:pt x="127" y="280"/>
                </a:moveTo>
                <a:cubicBezTo>
                  <a:pt x="85" y="283"/>
                  <a:pt x="48" y="251"/>
                  <a:pt x="45" y="209"/>
                </a:cubicBezTo>
                <a:cubicBezTo>
                  <a:pt x="43" y="167"/>
                  <a:pt x="75" y="130"/>
                  <a:pt x="117" y="127"/>
                </a:cubicBezTo>
                <a:cubicBezTo>
                  <a:pt x="159" y="124"/>
                  <a:pt x="196" y="157"/>
                  <a:pt x="199" y="199"/>
                </a:cubicBezTo>
                <a:cubicBezTo>
                  <a:pt x="201" y="241"/>
                  <a:pt x="169" y="278"/>
                  <a:pt x="127" y="280"/>
                </a:cubicBezTo>
                <a:close/>
                <a:moveTo>
                  <a:pt x="349" y="91"/>
                </a:moveTo>
                <a:cubicBezTo>
                  <a:pt x="364" y="90"/>
                  <a:pt x="364" y="90"/>
                  <a:pt x="364" y="90"/>
                </a:cubicBezTo>
                <a:cubicBezTo>
                  <a:pt x="363" y="65"/>
                  <a:pt x="363" y="65"/>
                  <a:pt x="363" y="65"/>
                </a:cubicBezTo>
                <a:cubicBezTo>
                  <a:pt x="348" y="66"/>
                  <a:pt x="348" y="66"/>
                  <a:pt x="348" y="66"/>
                </a:cubicBezTo>
                <a:cubicBezTo>
                  <a:pt x="345" y="56"/>
                  <a:pt x="341" y="48"/>
                  <a:pt x="335" y="41"/>
                </a:cubicBezTo>
                <a:cubicBezTo>
                  <a:pt x="345" y="29"/>
                  <a:pt x="345" y="29"/>
                  <a:pt x="345" y="29"/>
                </a:cubicBezTo>
                <a:cubicBezTo>
                  <a:pt x="326" y="12"/>
                  <a:pt x="326" y="12"/>
                  <a:pt x="326" y="12"/>
                </a:cubicBezTo>
                <a:cubicBezTo>
                  <a:pt x="316" y="24"/>
                  <a:pt x="316" y="24"/>
                  <a:pt x="316" y="24"/>
                </a:cubicBezTo>
                <a:cubicBezTo>
                  <a:pt x="308" y="19"/>
                  <a:pt x="299" y="16"/>
                  <a:pt x="290" y="15"/>
                </a:cubicBezTo>
                <a:cubicBezTo>
                  <a:pt x="289" y="0"/>
                  <a:pt x="289" y="0"/>
                  <a:pt x="289" y="0"/>
                </a:cubicBezTo>
                <a:cubicBezTo>
                  <a:pt x="263" y="1"/>
                  <a:pt x="263" y="1"/>
                  <a:pt x="263" y="1"/>
                </a:cubicBezTo>
                <a:cubicBezTo>
                  <a:pt x="264" y="16"/>
                  <a:pt x="264" y="16"/>
                  <a:pt x="264" y="16"/>
                </a:cubicBezTo>
                <a:cubicBezTo>
                  <a:pt x="255" y="19"/>
                  <a:pt x="247" y="23"/>
                  <a:pt x="239" y="29"/>
                </a:cubicBezTo>
                <a:cubicBezTo>
                  <a:pt x="228" y="19"/>
                  <a:pt x="228" y="19"/>
                  <a:pt x="228" y="19"/>
                </a:cubicBezTo>
                <a:cubicBezTo>
                  <a:pt x="211" y="38"/>
                  <a:pt x="211" y="38"/>
                  <a:pt x="211" y="38"/>
                </a:cubicBezTo>
                <a:cubicBezTo>
                  <a:pt x="222" y="48"/>
                  <a:pt x="222" y="48"/>
                  <a:pt x="222" y="48"/>
                </a:cubicBezTo>
                <a:cubicBezTo>
                  <a:pt x="218" y="56"/>
                  <a:pt x="215" y="65"/>
                  <a:pt x="213" y="74"/>
                </a:cubicBezTo>
                <a:cubicBezTo>
                  <a:pt x="198" y="75"/>
                  <a:pt x="198" y="75"/>
                  <a:pt x="198" y="75"/>
                </a:cubicBezTo>
                <a:cubicBezTo>
                  <a:pt x="200" y="101"/>
                  <a:pt x="200" y="101"/>
                  <a:pt x="200" y="101"/>
                </a:cubicBezTo>
                <a:cubicBezTo>
                  <a:pt x="215" y="100"/>
                  <a:pt x="215" y="100"/>
                  <a:pt x="215" y="100"/>
                </a:cubicBezTo>
                <a:cubicBezTo>
                  <a:pt x="218" y="109"/>
                  <a:pt x="222" y="117"/>
                  <a:pt x="227" y="125"/>
                </a:cubicBezTo>
                <a:cubicBezTo>
                  <a:pt x="217" y="136"/>
                  <a:pt x="217" y="136"/>
                  <a:pt x="217" y="136"/>
                </a:cubicBezTo>
                <a:cubicBezTo>
                  <a:pt x="237" y="153"/>
                  <a:pt x="237" y="153"/>
                  <a:pt x="237" y="153"/>
                </a:cubicBezTo>
                <a:cubicBezTo>
                  <a:pt x="247" y="142"/>
                  <a:pt x="247" y="142"/>
                  <a:pt x="247" y="142"/>
                </a:cubicBezTo>
                <a:cubicBezTo>
                  <a:pt x="255" y="146"/>
                  <a:pt x="263" y="149"/>
                  <a:pt x="273" y="151"/>
                </a:cubicBezTo>
                <a:cubicBezTo>
                  <a:pt x="274" y="166"/>
                  <a:pt x="274" y="166"/>
                  <a:pt x="274" y="166"/>
                </a:cubicBezTo>
                <a:cubicBezTo>
                  <a:pt x="300" y="164"/>
                  <a:pt x="300" y="164"/>
                  <a:pt x="300" y="164"/>
                </a:cubicBezTo>
                <a:cubicBezTo>
                  <a:pt x="299" y="149"/>
                  <a:pt x="299" y="149"/>
                  <a:pt x="299" y="149"/>
                </a:cubicBezTo>
                <a:cubicBezTo>
                  <a:pt x="308" y="147"/>
                  <a:pt x="316" y="142"/>
                  <a:pt x="323" y="137"/>
                </a:cubicBezTo>
                <a:cubicBezTo>
                  <a:pt x="335" y="147"/>
                  <a:pt x="335" y="147"/>
                  <a:pt x="335" y="147"/>
                </a:cubicBezTo>
                <a:cubicBezTo>
                  <a:pt x="352" y="127"/>
                  <a:pt x="352" y="127"/>
                  <a:pt x="352" y="127"/>
                </a:cubicBezTo>
                <a:cubicBezTo>
                  <a:pt x="340" y="117"/>
                  <a:pt x="340" y="117"/>
                  <a:pt x="340" y="117"/>
                </a:cubicBezTo>
                <a:cubicBezTo>
                  <a:pt x="345" y="110"/>
                  <a:pt x="348" y="101"/>
                  <a:pt x="349" y="91"/>
                </a:cubicBezTo>
                <a:close/>
                <a:moveTo>
                  <a:pt x="285" y="135"/>
                </a:moveTo>
                <a:cubicBezTo>
                  <a:pt x="256" y="137"/>
                  <a:pt x="231" y="115"/>
                  <a:pt x="229" y="86"/>
                </a:cubicBezTo>
                <a:cubicBezTo>
                  <a:pt x="227" y="57"/>
                  <a:pt x="249" y="32"/>
                  <a:pt x="278" y="31"/>
                </a:cubicBezTo>
                <a:cubicBezTo>
                  <a:pt x="307" y="29"/>
                  <a:pt x="332" y="51"/>
                  <a:pt x="333" y="79"/>
                </a:cubicBezTo>
                <a:cubicBezTo>
                  <a:pt x="335" y="108"/>
                  <a:pt x="313" y="133"/>
                  <a:pt x="285" y="135"/>
                </a:cubicBezTo>
                <a:close/>
              </a:path>
            </a:pathLst>
          </a:custGeom>
          <a:solidFill>
            <a:srgbClr val="4368A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3760572" y="1553362"/>
            <a:ext cx="8155018" cy="12586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defTabSz="1450975"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zh-CN" dirty="0">
                <a:solidFill>
                  <a:srgbClr val="FF0000"/>
                </a:solidFill>
              </a:rPr>
              <a:t>改进</a:t>
            </a:r>
            <a:r>
              <a:rPr lang="zh-CN" altLang="en-US" dirty="0">
                <a:solidFill>
                  <a:srgbClr val="FF0000"/>
                </a:solidFill>
              </a:rPr>
              <a:t>提示微调</a:t>
            </a:r>
            <a:r>
              <a:rPr lang="zh-CN" altLang="en-US" dirty="0"/>
              <a:t>训练三类不同结构的预训练模型</a:t>
            </a:r>
            <a:r>
              <a:rPr lang="en-US" altLang="zh-CN" dirty="0"/>
              <a:t>;</a:t>
            </a:r>
          </a:p>
          <a:p>
            <a:pPr defTabSz="1450975">
              <a:lnSpc>
                <a:spcPct val="1500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结合图结构信息和上下文学习</a:t>
            </a:r>
            <a:r>
              <a:rPr lang="zh-CN" altLang="en-US" dirty="0"/>
              <a:t>来增强大模型的漏洞分析能力</a:t>
            </a:r>
            <a:endParaRPr lang="en-US" altLang="zh-CN" dirty="0"/>
          </a:p>
          <a:p>
            <a:pPr defTabSz="1450975"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zh-CN" altLang="en-US" dirty="0"/>
              <a:t>、将</a:t>
            </a:r>
            <a:r>
              <a:rPr lang="zh-CN" altLang="en-US" dirty="0">
                <a:solidFill>
                  <a:srgbClr val="FF0000"/>
                </a:solidFill>
              </a:rPr>
              <a:t>图特征融合到微调</a:t>
            </a:r>
            <a:r>
              <a:rPr lang="zh-CN" altLang="en-US" dirty="0"/>
              <a:t>方法中，节省资源</a:t>
            </a:r>
          </a:p>
        </p:txBody>
      </p:sp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3760731" y="1184644"/>
            <a:ext cx="2658889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l" defTabSz="1450975"/>
            <a:r>
              <a:rPr lang="zh-CN" altLang="en-US" sz="2000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方法的研究与实现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293" y="1552942"/>
            <a:ext cx="861596" cy="8615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2585290" y="4492994"/>
            <a:ext cx="7446010" cy="1640205"/>
            <a:chOff x="3247" y="1803"/>
            <a:chExt cx="11726" cy="2583"/>
          </a:xfrm>
        </p:grpSpPr>
        <p:sp>
          <p:nvSpPr>
            <p:cNvPr id="42" name="圆角矩形 41"/>
            <p:cNvSpPr/>
            <p:nvPr>
              <p:custDataLst>
                <p:tags r:id="rId1"/>
              </p:custDataLst>
            </p:nvPr>
          </p:nvSpPr>
          <p:spPr>
            <a:xfrm>
              <a:off x="5402" y="1996"/>
              <a:ext cx="9082" cy="2278"/>
            </a:xfrm>
            <a:prstGeom prst="roundRect">
              <a:avLst/>
            </a:prstGeom>
            <a:noFill/>
            <a:ln w="31750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 descr="5027831_person_target_user_icon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46" y="1803"/>
              <a:ext cx="1935" cy="1935"/>
            </a:xfrm>
            <a:prstGeom prst="rect">
              <a:avLst/>
            </a:prstGeom>
          </p:spPr>
        </p:pic>
        <p:sp>
          <p:nvSpPr>
            <p:cNvPr id="34" name="文本框 33"/>
            <p:cNvSpPr txBox="1"/>
            <p:nvPr>
              <p:custDataLst>
                <p:tags r:id="rId3"/>
              </p:custDataLst>
            </p:nvPr>
          </p:nvSpPr>
          <p:spPr>
            <a:xfrm>
              <a:off x="3247" y="3758"/>
              <a:ext cx="2080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2000" b="1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研究目标</a:t>
              </a:r>
            </a:p>
          </p:txBody>
        </p:sp>
        <p:sp>
          <p:nvSpPr>
            <p:cNvPr id="41" name="文本框 40"/>
            <p:cNvSpPr txBox="1"/>
            <p:nvPr>
              <p:custDataLst>
                <p:tags r:id="rId4"/>
              </p:custDataLst>
            </p:nvPr>
          </p:nvSpPr>
          <p:spPr>
            <a:xfrm>
              <a:off x="5373" y="2107"/>
              <a:ext cx="9600" cy="20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  <a:buNone/>
              </a:pP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1</a:t>
              </a:r>
              <a:r>
                <a:rPr lang="zh-CN" altLang="en-US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、是否</a:t>
              </a:r>
              <a:r>
                <a:rPr lang="zh-CN" altLang="en-US" dirty="0"/>
                <a:t>提示微调</a:t>
              </a:r>
              <a:r>
                <a:rPr lang="zh-CN" altLang="en-US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会比传统的预训练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-</a:t>
              </a:r>
              <a:r>
                <a:rPr lang="zh-CN" altLang="en-US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微调范式效果更好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?</a:t>
              </a:r>
              <a:endParaRPr lang="en-US" altLang="en-GB" dirty="0"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  <a:p>
              <a:pPr algn="l">
                <a:lnSpc>
                  <a:spcPct val="150000"/>
                </a:lnSpc>
                <a:buNone/>
              </a:pP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2</a:t>
              </a:r>
              <a:r>
                <a:rPr lang="zh-CN" altLang="en-US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、提出的图结构信息和上下文学习方法是否有用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?</a:t>
              </a:r>
            </a:p>
            <a:p>
              <a:pPr algn="l">
                <a:lnSpc>
                  <a:spcPct val="150000"/>
                </a:lnSpc>
                <a:buNone/>
              </a:pP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3</a:t>
              </a:r>
              <a:r>
                <a:rPr lang="zh-CN" altLang="en-US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、多任务学习微调是否可以提高检测性能？</a:t>
              </a:r>
              <a:endPara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/>
          <p:nvPr/>
        </p:nvGrpSpPr>
        <p:grpSpPr>
          <a:xfrm>
            <a:off x="1846604" y="2649458"/>
            <a:ext cx="1017456" cy="1158875"/>
            <a:chOff x="812800" y="2719388"/>
            <a:chExt cx="1017588" cy="1158875"/>
          </a:xfrm>
          <a:solidFill>
            <a:schemeClr val="bg1"/>
          </a:solidFill>
        </p:grpSpPr>
        <p:sp>
          <p:nvSpPr>
            <p:cNvPr id="5" name="Freeform 35"/>
            <p:cNvSpPr>
              <a:spLocks noEditPoints="1"/>
            </p:cNvSpPr>
            <p:nvPr/>
          </p:nvSpPr>
          <p:spPr bwMode="auto">
            <a:xfrm>
              <a:off x="812800" y="2719388"/>
              <a:ext cx="1017588" cy="1158875"/>
            </a:xfrm>
            <a:custGeom>
              <a:avLst/>
              <a:gdLst>
                <a:gd name="T0" fmla="*/ 56 w 112"/>
                <a:gd name="T1" fmla="*/ 0 h 128"/>
                <a:gd name="T2" fmla="*/ 0 w 112"/>
                <a:gd name="T3" fmla="*/ 26 h 128"/>
                <a:gd name="T4" fmla="*/ 0 w 112"/>
                <a:gd name="T5" fmla="*/ 102 h 128"/>
                <a:gd name="T6" fmla="*/ 56 w 112"/>
                <a:gd name="T7" fmla="*/ 128 h 128"/>
                <a:gd name="T8" fmla="*/ 112 w 112"/>
                <a:gd name="T9" fmla="*/ 102 h 128"/>
                <a:gd name="T10" fmla="*/ 112 w 112"/>
                <a:gd name="T11" fmla="*/ 26 h 128"/>
                <a:gd name="T12" fmla="*/ 56 w 112"/>
                <a:gd name="T13" fmla="*/ 0 h 128"/>
                <a:gd name="T14" fmla="*/ 104 w 112"/>
                <a:gd name="T15" fmla="*/ 102 h 128"/>
                <a:gd name="T16" fmla="*/ 56 w 112"/>
                <a:gd name="T17" fmla="*/ 120 h 128"/>
                <a:gd name="T18" fmla="*/ 8 w 112"/>
                <a:gd name="T19" fmla="*/ 102 h 128"/>
                <a:gd name="T20" fmla="*/ 8 w 112"/>
                <a:gd name="T21" fmla="*/ 87 h 128"/>
                <a:gd name="T22" fmla="*/ 56 w 112"/>
                <a:gd name="T23" fmla="*/ 100 h 128"/>
                <a:gd name="T24" fmla="*/ 104 w 112"/>
                <a:gd name="T25" fmla="*/ 87 h 128"/>
                <a:gd name="T26" fmla="*/ 104 w 112"/>
                <a:gd name="T27" fmla="*/ 102 h 128"/>
                <a:gd name="T28" fmla="*/ 104 w 112"/>
                <a:gd name="T29" fmla="*/ 78 h 128"/>
                <a:gd name="T30" fmla="*/ 104 w 112"/>
                <a:gd name="T31" fmla="*/ 78 h 128"/>
                <a:gd name="T32" fmla="*/ 104 w 112"/>
                <a:gd name="T33" fmla="*/ 78 h 128"/>
                <a:gd name="T34" fmla="*/ 56 w 112"/>
                <a:gd name="T35" fmla="*/ 96 h 128"/>
                <a:gd name="T36" fmla="*/ 8 w 112"/>
                <a:gd name="T37" fmla="*/ 78 h 128"/>
                <a:gd name="T38" fmla="*/ 8 w 112"/>
                <a:gd name="T39" fmla="*/ 78 h 128"/>
                <a:gd name="T40" fmla="*/ 8 w 112"/>
                <a:gd name="T41" fmla="*/ 78 h 128"/>
                <a:gd name="T42" fmla="*/ 8 w 112"/>
                <a:gd name="T43" fmla="*/ 63 h 128"/>
                <a:gd name="T44" fmla="*/ 56 w 112"/>
                <a:gd name="T45" fmla="*/ 76 h 128"/>
                <a:gd name="T46" fmla="*/ 104 w 112"/>
                <a:gd name="T47" fmla="*/ 63 h 128"/>
                <a:gd name="T48" fmla="*/ 104 w 112"/>
                <a:gd name="T49" fmla="*/ 78 h 128"/>
                <a:gd name="T50" fmla="*/ 104 w 112"/>
                <a:gd name="T51" fmla="*/ 54 h 128"/>
                <a:gd name="T52" fmla="*/ 104 w 112"/>
                <a:gd name="T53" fmla="*/ 54 h 128"/>
                <a:gd name="T54" fmla="*/ 104 w 112"/>
                <a:gd name="T55" fmla="*/ 54 h 128"/>
                <a:gd name="T56" fmla="*/ 56 w 112"/>
                <a:gd name="T57" fmla="*/ 72 h 128"/>
                <a:gd name="T58" fmla="*/ 8 w 112"/>
                <a:gd name="T59" fmla="*/ 54 h 128"/>
                <a:gd name="T60" fmla="*/ 8 w 112"/>
                <a:gd name="T61" fmla="*/ 54 h 128"/>
                <a:gd name="T62" fmla="*/ 8 w 112"/>
                <a:gd name="T63" fmla="*/ 54 h 128"/>
                <a:gd name="T64" fmla="*/ 8 w 112"/>
                <a:gd name="T65" fmla="*/ 40 h 128"/>
                <a:gd name="T66" fmla="*/ 56 w 112"/>
                <a:gd name="T67" fmla="*/ 52 h 128"/>
                <a:gd name="T68" fmla="*/ 104 w 112"/>
                <a:gd name="T69" fmla="*/ 40 h 128"/>
                <a:gd name="T70" fmla="*/ 104 w 112"/>
                <a:gd name="T71" fmla="*/ 54 h 128"/>
                <a:gd name="T72" fmla="*/ 56 w 112"/>
                <a:gd name="T73" fmla="*/ 44 h 128"/>
                <a:gd name="T74" fmla="*/ 8 w 112"/>
                <a:gd name="T75" fmla="*/ 26 h 128"/>
                <a:gd name="T76" fmla="*/ 56 w 112"/>
                <a:gd name="T77" fmla="*/ 8 h 128"/>
                <a:gd name="T78" fmla="*/ 104 w 112"/>
                <a:gd name="T79" fmla="*/ 26 h 128"/>
                <a:gd name="T80" fmla="*/ 56 w 112"/>
                <a:gd name="T81" fmla="*/ 4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2" h="128">
                  <a:moveTo>
                    <a:pt x="56" y="0"/>
                  </a:moveTo>
                  <a:cubicBezTo>
                    <a:pt x="29" y="0"/>
                    <a:pt x="0" y="8"/>
                    <a:pt x="0" y="2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20"/>
                    <a:pt x="29" y="128"/>
                    <a:pt x="56" y="128"/>
                  </a:cubicBezTo>
                  <a:cubicBezTo>
                    <a:pt x="83" y="128"/>
                    <a:pt x="112" y="120"/>
                    <a:pt x="112" y="102"/>
                  </a:cubicBezTo>
                  <a:cubicBezTo>
                    <a:pt x="112" y="26"/>
                    <a:pt x="112" y="26"/>
                    <a:pt x="112" y="26"/>
                  </a:cubicBezTo>
                  <a:cubicBezTo>
                    <a:pt x="112" y="8"/>
                    <a:pt x="83" y="0"/>
                    <a:pt x="56" y="0"/>
                  </a:cubicBezTo>
                  <a:close/>
                  <a:moveTo>
                    <a:pt x="104" y="102"/>
                  </a:moveTo>
                  <a:cubicBezTo>
                    <a:pt x="104" y="112"/>
                    <a:pt x="83" y="120"/>
                    <a:pt x="56" y="120"/>
                  </a:cubicBezTo>
                  <a:cubicBezTo>
                    <a:pt x="29" y="120"/>
                    <a:pt x="8" y="112"/>
                    <a:pt x="8" y="102"/>
                  </a:cubicBezTo>
                  <a:cubicBezTo>
                    <a:pt x="8" y="87"/>
                    <a:pt x="8" y="87"/>
                    <a:pt x="8" y="87"/>
                  </a:cubicBezTo>
                  <a:cubicBezTo>
                    <a:pt x="16" y="96"/>
                    <a:pt x="36" y="100"/>
                    <a:pt x="56" y="100"/>
                  </a:cubicBezTo>
                  <a:cubicBezTo>
                    <a:pt x="76" y="100"/>
                    <a:pt x="96" y="96"/>
                    <a:pt x="104" y="87"/>
                  </a:cubicBezTo>
                  <a:lnTo>
                    <a:pt x="104" y="102"/>
                  </a:lnTo>
                  <a:close/>
                  <a:moveTo>
                    <a:pt x="104" y="78"/>
                  </a:moveTo>
                  <a:cubicBezTo>
                    <a:pt x="104" y="78"/>
                    <a:pt x="104" y="78"/>
                    <a:pt x="104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04" y="88"/>
                    <a:pt x="83" y="96"/>
                    <a:pt x="56" y="96"/>
                  </a:cubicBezTo>
                  <a:cubicBezTo>
                    <a:pt x="29" y="96"/>
                    <a:pt x="8" y="8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16" y="72"/>
                    <a:pt x="36" y="76"/>
                    <a:pt x="56" y="76"/>
                  </a:cubicBezTo>
                  <a:cubicBezTo>
                    <a:pt x="76" y="76"/>
                    <a:pt x="96" y="72"/>
                    <a:pt x="104" y="63"/>
                  </a:cubicBezTo>
                  <a:lnTo>
                    <a:pt x="104" y="78"/>
                  </a:lnTo>
                  <a:close/>
                  <a:moveTo>
                    <a:pt x="104" y="54"/>
                  </a:moveTo>
                  <a:cubicBezTo>
                    <a:pt x="104" y="54"/>
                    <a:pt x="104" y="54"/>
                    <a:pt x="104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64"/>
                    <a:pt x="83" y="72"/>
                    <a:pt x="56" y="72"/>
                  </a:cubicBezTo>
                  <a:cubicBezTo>
                    <a:pt x="29" y="72"/>
                    <a:pt x="8" y="64"/>
                    <a:pt x="8" y="54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18" y="48"/>
                    <a:pt x="38" y="52"/>
                    <a:pt x="56" y="52"/>
                  </a:cubicBezTo>
                  <a:cubicBezTo>
                    <a:pt x="74" y="52"/>
                    <a:pt x="94" y="48"/>
                    <a:pt x="104" y="40"/>
                  </a:cubicBezTo>
                  <a:lnTo>
                    <a:pt x="104" y="54"/>
                  </a:lnTo>
                  <a:close/>
                  <a:moveTo>
                    <a:pt x="56" y="44"/>
                  </a:moveTo>
                  <a:cubicBezTo>
                    <a:pt x="29" y="44"/>
                    <a:pt x="8" y="36"/>
                    <a:pt x="8" y="26"/>
                  </a:cubicBezTo>
                  <a:cubicBezTo>
                    <a:pt x="8" y="16"/>
                    <a:pt x="29" y="8"/>
                    <a:pt x="56" y="8"/>
                  </a:cubicBezTo>
                  <a:cubicBezTo>
                    <a:pt x="83" y="8"/>
                    <a:pt x="104" y="16"/>
                    <a:pt x="104" y="26"/>
                  </a:cubicBezTo>
                  <a:cubicBezTo>
                    <a:pt x="104" y="36"/>
                    <a:pt x="83" y="44"/>
                    <a:pt x="56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id-ID"/>
            </a:p>
          </p:txBody>
        </p:sp>
        <p:sp>
          <p:nvSpPr>
            <p:cNvPr id="6" name="Oval 36"/>
            <p:cNvSpPr>
              <a:spLocks noChangeArrowheads="1"/>
            </p:cNvSpPr>
            <p:nvPr/>
          </p:nvSpPr>
          <p:spPr bwMode="auto">
            <a:xfrm>
              <a:off x="1612900" y="3624263"/>
              <a:ext cx="71438" cy="730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id-ID"/>
            </a:p>
          </p:txBody>
        </p:sp>
        <p:sp>
          <p:nvSpPr>
            <p:cNvPr id="7" name="Oval 37"/>
            <p:cNvSpPr>
              <a:spLocks noChangeArrowheads="1"/>
            </p:cNvSpPr>
            <p:nvPr/>
          </p:nvSpPr>
          <p:spPr bwMode="auto">
            <a:xfrm>
              <a:off x="1612900" y="3406776"/>
              <a:ext cx="71438" cy="730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id-ID"/>
            </a:p>
          </p:txBody>
        </p:sp>
        <p:sp>
          <p:nvSpPr>
            <p:cNvPr id="8" name="Oval 38"/>
            <p:cNvSpPr>
              <a:spLocks noChangeArrowheads="1"/>
            </p:cNvSpPr>
            <p:nvPr/>
          </p:nvSpPr>
          <p:spPr bwMode="auto">
            <a:xfrm>
              <a:off x="1612900" y="3190876"/>
              <a:ext cx="71438" cy="714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id-ID"/>
            </a:p>
          </p:txBody>
        </p:sp>
      </p:grp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数据集构建与处理</a:t>
            </a: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647" y="5702129"/>
            <a:ext cx="1127125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Zhou, Yaqin, et al. "Devign: Effective vulnerability identification by learning comprehensive program semantics via graph neural networks."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NIPS </a:t>
            </a:r>
            <a:r>
              <a:rPr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Fan, Jiahao, et al. "A C/C++ code vulnerability dataset with code changes and CVE summaries." MSR 2020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Chakraborty, Saikat, et al. "Deep learning based vulnerability detection: Are we there yet." TSE 2022</a:t>
            </a: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2874010" y="1211580"/>
            <a:ext cx="6824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漏洞检测任务数据集</a:t>
            </a:r>
          </a:p>
        </p:txBody>
      </p:sp>
      <p:pic>
        <p:nvPicPr>
          <p:cNvPr id="19" name="图片 18" descr="decision-tre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522" y="1879587"/>
            <a:ext cx="976226" cy="976226"/>
          </a:xfrm>
          <a:prstGeom prst="rect">
            <a:avLst/>
          </a:prstGeom>
        </p:spPr>
      </p:pic>
      <p:pic>
        <p:nvPicPr>
          <p:cNvPr id="20" name="图片 19" descr="data-classific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484" y="3808333"/>
            <a:ext cx="1158875" cy="115887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0164503" y="1211410"/>
            <a:ext cx="2136486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预处理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去除注释</a:t>
            </a: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生成图结构信息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835062" y="1561560"/>
          <a:ext cx="717219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4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4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4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样本量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正样本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负样本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比例（</a:t>
                      </a:r>
                      <a:r>
                        <a:rPr lang="en-US" altLang="zh-CN" dirty="0"/>
                        <a:t>%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Devign</a:t>
                      </a:r>
                      <a:r>
                        <a:rPr lang="en-US" altLang="zh-CN" baseline="30000" dirty="0"/>
                        <a:t>[1]</a:t>
                      </a:r>
                      <a:endParaRPr lang="zh-CN" altLang="en-US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22361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10067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12294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45.02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BigVul</a:t>
                      </a:r>
                      <a:r>
                        <a:rPr lang="en-US" altLang="zh-CN" baseline="30000" dirty="0"/>
                        <a:t>[2]</a:t>
                      </a:r>
                      <a:endParaRPr lang="en-US" altLang="zh-C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179299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10547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168752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5.88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Reveal</a:t>
                      </a:r>
                      <a:r>
                        <a:rPr lang="en-US" altLang="zh-CN" baseline="30000" dirty="0"/>
                        <a:t>[3]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18169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1664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16505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9.16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938172" y="3499235"/>
          <a:ext cx="696597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3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3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排序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漏洞种类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漏洞名称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比例（</a:t>
                      </a:r>
                      <a:r>
                        <a:rPr lang="en-US" altLang="zh-CN" dirty="0"/>
                        <a:t>%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CWE-79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跨站脚本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1.07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CWE-787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越界写入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5.28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CWE-20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输入验证不当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27.34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CWE-125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越界读取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12.83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CWE-119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不当限制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446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53.48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文本框 26"/>
          <p:cNvSpPr txBox="1"/>
          <p:nvPr>
            <p:custDataLst>
              <p:tags r:id="rId3"/>
            </p:custDataLst>
          </p:nvPr>
        </p:nvSpPr>
        <p:spPr>
          <a:xfrm>
            <a:off x="2938172" y="3106740"/>
            <a:ext cx="6824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漏洞类型检测任务数据集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基准方法与评估指标</a:t>
            </a:r>
          </a:p>
        </p:txBody>
      </p:sp>
      <p:pic>
        <p:nvPicPr>
          <p:cNvPr id="10" name="图片 9" descr="baseli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0940" y="1426768"/>
            <a:ext cx="1187450" cy="11874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430020" y="1267383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VulDeePecker </a:t>
            </a:r>
          </a:p>
          <a:p>
            <a:r>
              <a:rPr lang="zh-CN" altLang="en-US" dirty="0"/>
              <a:t>SySeVR </a:t>
            </a:r>
          </a:p>
          <a:p>
            <a:r>
              <a:rPr lang="zh-CN" altLang="en-US" dirty="0"/>
              <a:t>Devign </a:t>
            </a:r>
          </a:p>
          <a:p>
            <a:r>
              <a:rPr lang="zh-CN" altLang="en-US" dirty="0"/>
              <a:t>Reveal </a:t>
            </a:r>
          </a:p>
          <a:p>
            <a:r>
              <a:rPr lang="en-US" altLang="zh-CN" dirty="0"/>
              <a:t>AMPLE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6211830" y="1221106"/>
            <a:ext cx="6096000" cy="1442085"/>
            <a:chOff x="8173" y="1594"/>
            <a:chExt cx="9600" cy="2271"/>
          </a:xfrm>
        </p:grpSpPr>
        <p:sp>
          <p:nvSpPr>
            <p:cNvPr id="17" name="文本框 16"/>
            <p:cNvSpPr txBox="1"/>
            <p:nvPr/>
          </p:nvSpPr>
          <p:spPr>
            <a:xfrm>
              <a:off x="8173" y="2041"/>
              <a:ext cx="9600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400">
                  <a:solidFill>
                    <a:schemeClr val="accent5">
                      <a:lumMod val="60000"/>
                      <a:lumOff val="40000"/>
                    </a:schemeClr>
                  </a:solidFill>
                  <a:sym typeface="+mn-ea"/>
                </a:rPr>
                <a:t>[2] </a:t>
              </a:r>
              <a:r>
                <a:rPr lang="zh-CN" altLang="en-US" sz="140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https://github.com/SySeVR/SySeVR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173" y="1594"/>
              <a:ext cx="9600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40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[1] </a:t>
              </a:r>
              <a:r>
                <a:rPr lang="zh-CN" altLang="en-US" sz="140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https://github.com/CGCL-codes/VulDeePecker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173" y="2488"/>
              <a:ext cx="9600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400">
                  <a:solidFill>
                    <a:schemeClr val="accent5">
                      <a:lumMod val="60000"/>
                      <a:lumOff val="40000"/>
                    </a:schemeClr>
                  </a:solidFill>
                  <a:sym typeface="+mn-ea"/>
                </a:rPr>
                <a:t>[3] </a:t>
              </a:r>
              <a:r>
                <a:rPr lang="zh-CN" altLang="en-US" sz="140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https://github.com/saikat107/Devign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173" y="3382"/>
              <a:ext cx="9600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400">
                  <a:solidFill>
                    <a:schemeClr val="accent5">
                      <a:lumMod val="60000"/>
                      <a:lumOff val="40000"/>
                    </a:schemeClr>
                  </a:solidFill>
                  <a:sym typeface="+mn-ea"/>
                </a:rPr>
                <a:t>[5] </a:t>
              </a:r>
              <a:r>
                <a:rPr lang="zh-CN" altLang="en-US" sz="140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https://github.com/AMPLE001/AMPLE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173" y="2935"/>
              <a:ext cx="9600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400">
                  <a:solidFill>
                    <a:schemeClr val="accent5">
                      <a:lumMod val="60000"/>
                      <a:lumOff val="40000"/>
                    </a:schemeClr>
                  </a:solidFill>
                  <a:sym typeface="+mn-ea"/>
                </a:rPr>
                <a:t>[4] </a:t>
              </a:r>
              <a:r>
                <a:rPr lang="zh-CN" altLang="en-US" sz="140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https://github.com/VulDetProject/ReVeal</a:t>
              </a:r>
            </a:p>
          </p:txBody>
        </p:sp>
      </p:grpSp>
      <p:pic>
        <p:nvPicPr>
          <p:cNvPr id="22" name="图片 21" descr="measure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00940" y="4216266"/>
            <a:ext cx="1290320" cy="129032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4722253" y="3322133"/>
            <a:ext cx="1822258" cy="33303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dirty="0"/>
              <a:t>准确率</a:t>
            </a:r>
            <a:endParaRPr lang="en-US" altLang="zh-CN" dirty="0"/>
          </a:p>
          <a:p>
            <a:pPr>
              <a:lnSpc>
                <a:spcPct val="250000"/>
              </a:lnSpc>
            </a:pPr>
            <a:r>
              <a:rPr lang="zh-CN" altLang="en-US" dirty="0"/>
              <a:t>召回率</a:t>
            </a:r>
            <a:endParaRPr lang="en-US" altLang="zh-CN" dirty="0"/>
          </a:p>
          <a:p>
            <a:pPr>
              <a:lnSpc>
                <a:spcPct val="250000"/>
              </a:lnSpc>
            </a:pPr>
            <a:r>
              <a:rPr lang="zh-CN" altLang="en-US" dirty="0"/>
              <a:t>精准率</a:t>
            </a:r>
            <a:endParaRPr lang="en-US" altLang="zh-CN" dirty="0"/>
          </a:p>
          <a:p>
            <a:pPr>
              <a:lnSpc>
                <a:spcPct val="250000"/>
              </a:lnSpc>
            </a:pPr>
            <a:r>
              <a:rPr lang="en-US" altLang="zh-CN" dirty="0"/>
              <a:t>F1</a:t>
            </a:r>
            <a:r>
              <a:rPr lang="zh-CN" altLang="en-US" dirty="0"/>
              <a:t>分数</a:t>
            </a:r>
            <a:endParaRPr lang="en-US" altLang="zh-CN" dirty="0"/>
          </a:p>
          <a:p>
            <a:pPr>
              <a:lnSpc>
                <a:spcPct val="200000"/>
              </a:lnSpc>
            </a:pPr>
            <a:endParaRPr lang="en-US" altLang="zh-CN" dirty="0"/>
          </a:p>
        </p:txBody>
      </p:sp>
      <p:sp>
        <p:nvSpPr>
          <p:cNvPr id="27" name="文本框 26"/>
          <p:cNvSpPr txBox="1"/>
          <p:nvPr/>
        </p:nvSpPr>
        <p:spPr>
          <a:xfrm>
            <a:off x="2900940" y="2897506"/>
            <a:ext cx="981773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sym typeface="+mn-ea"/>
              </a:rPr>
              <a:t>注：基准方法复现于带有</a:t>
            </a:r>
            <a:r>
              <a:rPr lang="en-US" altLang="zh-CN" sz="1600" dirty="0">
                <a:sym typeface="+mn-ea"/>
              </a:rPr>
              <a:t> </a:t>
            </a:r>
            <a:r>
              <a:rPr lang="en-US" altLang="zh-CN" sz="1600" u="sng" dirty="0">
                <a:solidFill>
                  <a:schemeClr val="tx1"/>
                </a:solidFill>
                <a:sym typeface="+mn-ea"/>
              </a:rPr>
              <a:t>NVIDIA RTX 4090 GPU, 64GB RAM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的机器上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08616" y="1888532"/>
            <a:ext cx="1345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基准方法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58818" y="4711276"/>
            <a:ext cx="6196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评估指标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B796D5C-A300-5298-F0B5-B80BC45EE88A}"/>
                  </a:ext>
                </a:extLst>
              </p:cNvPr>
              <p:cNvSpPr txBox="1"/>
              <p:nvPr/>
            </p:nvSpPr>
            <p:spPr>
              <a:xfrm>
                <a:off x="5834232" y="3597685"/>
                <a:ext cx="6357768" cy="485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𝐴𝑐𝑐𝑢𝑟𝑎𝑐𝑦</m:t>
                    </m:r>
                    <m:r>
                      <a:rPr lang="zh-CN" altLang="en-US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zh-CN" altLang="en-US" sz="1400" dirty="0"/>
                  <a:t>（</a:t>
                </a:r>
                <a:r>
                  <a:rPr lang="en-US" altLang="zh-CN" sz="1400" dirty="0"/>
                  <a:t>1</a:t>
                </a:r>
                <a:r>
                  <a:rPr lang="zh-CN" altLang="en-US" sz="1400" dirty="0"/>
                  <a:t>）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B796D5C-A300-5298-F0B5-B80BC45EE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232" y="3597685"/>
                <a:ext cx="6357768" cy="485582"/>
              </a:xfrm>
              <a:prstGeom prst="rect">
                <a:avLst/>
              </a:prstGeom>
              <a:blipFill>
                <a:blip r:embed="rId7"/>
                <a:stretch>
                  <a:fillRect l="-192" b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CF2FB48-B11F-272D-95CA-CB978D6E78AA}"/>
                  </a:ext>
                </a:extLst>
              </p:cNvPr>
              <p:cNvSpPr txBox="1"/>
              <p:nvPr/>
            </p:nvSpPr>
            <p:spPr>
              <a:xfrm>
                <a:off x="5834232" y="4899579"/>
                <a:ext cx="6357768" cy="485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𝑃𝑟𝑒𝑐𝑖𝑠𝑖𝑜𝑛</m:t>
                    </m:r>
                    <m:r>
                      <a:rPr lang="zh-CN" altLang="en-US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r>
                  <a:rPr lang="zh-CN" altLang="en-US" dirty="0"/>
                  <a:t>  </a:t>
                </a:r>
                <a:r>
                  <a:rPr lang="zh-CN" altLang="en-US" sz="1400" dirty="0"/>
                  <a:t>（</a:t>
                </a:r>
                <a:r>
                  <a:rPr lang="en-US" altLang="zh-CN" sz="1400" dirty="0"/>
                  <a:t>3</a:t>
                </a:r>
                <a:r>
                  <a:rPr lang="zh-CN" altLang="en-US" sz="1400" dirty="0"/>
                  <a:t>）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CF2FB48-B11F-272D-95CA-CB978D6E7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232" y="4899579"/>
                <a:ext cx="6357768" cy="485582"/>
              </a:xfrm>
              <a:prstGeom prst="rect">
                <a:avLst/>
              </a:prstGeom>
              <a:blipFill>
                <a:blip r:embed="rId8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C70E8CE-9104-B4E7-E4C8-AFD19282F73D}"/>
                  </a:ext>
                </a:extLst>
              </p:cNvPr>
              <p:cNvSpPr txBox="1"/>
              <p:nvPr/>
            </p:nvSpPr>
            <p:spPr>
              <a:xfrm>
                <a:off x="5827747" y="4280452"/>
                <a:ext cx="6357768" cy="485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𝑅𝑒𝑐𝑎𝑙𝑙</m:t>
                    </m:r>
                    <m:r>
                      <a:rPr lang="zh-CN" altLang="en-US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zh-CN" altLang="en-US" dirty="0"/>
                  <a:t>  </a:t>
                </a:r>
                <a:r>
                  <a:rPr lang="zh-CN" altLang="en-US" sz="1400" dirty="0"/>
                  <a:t>（</a:t>
                </a:r>
                <a:r>
                  <a:rPr lang="en-US" altLang="zh-CN" sz="1400" dirty="0"/>
                  <a:t>2</a:t>
                </a:r>
                <a:r>
                  <a:rPr lang="zh-CN" altLang="en-US" sz="1400" dirty="0"/>
                  <a:t>）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C70E8CE-9104-B4E7-E4C8-AFD19282F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747" y="4280452"/>
                <a:ext cx="6357768" cy="485582"/>
              </a:xfrm>
              <a:prstGeom prst="rect">
                <a:avLst/>
              </a:prstGeom>
              <a:blipFill>
                <a:blip r:embed="rId9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38FE90E-88A5-62BC-9F61-26826189BE23}"/>
                  </a:ext>
                </a:extLst>
              </p:cNvPr>
              <p:cNvSpPr txBox="1"/>
              <p:nvPr/>
            </p:nvSpPr>
            <p:spPr>
              <a:xfrm>
                <a:off x="5827747" y="5515069"/>
                <a:ext cx="6357768" cy="495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zh-CN" altLang="en-US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𝑠𝑐𝑜𝑟𝑒</m:t>
                    </m:r>
                    <m:r>
                      <a:rPr lang="zh-CN" altLang="en-US" i="0">
                        <a:latin typeface="Cambria Math" panose="02040503050406030204" pitchFamily="18" charset="0"/>
                      </a:rPr>
                      <m:t>=2∗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r>
                  <a:rPr lang="zh-CN" altLang="en-US" dirty="0"/>
                  <a:t>  </a:t>
                </a:r>
                <a:r>
                  <a:rPr lang="zh-CN" altLang="en-US" sz="1400" dirty="0"/>
                  <a:t>（</a:t>
                </a:r>
                <a:r>
                  <a:rPr lang="en-US" altLang="zh-CN" sz="1400" dirty="0"/>
                  <a:t>4</a:t>
                </a:r>
                <a:r>
                  <a:rPr lang="zh-CN" altLang="en-US" sz="1400" dirty="0"/>
                  <a:t>）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38FE90E-88A5-62BC-9F61-26826189B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747" y="5515069"/>
                <a:ext cx="6357768" cy="495328"/>
              </a:xfrm>
              <a:prstGeom prst="rect">
                <a:avLst/>
              </a:prstGeom>
              <a:blipFill>
                <a:blip r:embed="rId10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主要贡献与创新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383540" y="4485500"/>
            <a:ext cx="2785745" cy="497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ctr"/>
            <a:r>
              <a:rPr lang="zh-CN" altLang="en-US" sz="2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小样本缺陷检测</a:t>
            </a: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-380888" y="2704959"/>
            <a:ext cx="262509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PT4VD</a:t>
            </a:r>
          </a:p>
        </p:txBody>
      </p:sp>
      <p:sp>
        <p:nvSpPr>
          <p:cNvPr id="18" name="iṡḻíde"/>
          <p:cNvSpPr txBox="1"/>
          <p:nvPr>
            <p:custDataLst>
              <p:tags r:id="rId3"/>
            </p:custDataLst>
          </p:nvPr>
        </p:nvSpPr>
        <p:spPr bwMode="auto">
          <a:xfrm>
            <a:off x="767546" y="4998898"/>
            <a:ext cx="2257425" cy="906781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rmAutofit lnSpcReduction="10000"/>
          </a:bodyPr>
          <a:lstStyle/>
          <a:p>
            <a:pPr indent="0" algn="r" fontAlgn="auto"/>
            <a:r>
              <a:rPr lang="zh-CN" altLang="en-US" b="1" dirty="0"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首次提示微调应用到</a:t>
            </a:r>
            <a:r>
              <a:rPr lang="en-US" altLang="zh-CN" b="1" dirty="0"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VD</a:t>
            </a:r>
          </a:p>
          <a:p>
            <a:pPr indent="0" algn="r" fontAlgn="auto"/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28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组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实验，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insight</a:t>
            </a:r>
          </a:p>
          <a:p>
            <a:pPr indent="0" algn="r" fontAlgn="auto"/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开源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新数据集</a:t>
            </a:r>
          </a:p>
        </p:txBody>
      </p:sp>
      <p:sp>
        <p:nvSpPr>
          <p:cNvPr id="19" name="iṡḻíde"/>
          <p:cNvSpPr txBox="1"/>
          <p:nvPr>
            <p:custDataLst>
              <p:tags r:id="rId4"/>
            </p:custDataLst>
          </p:nvPr>
        </p:nvSpPr>
        <p:spPr bwMode="auto">
          <a:xfrm>
            <a:off x="6820871" y="4302780"/>
            <a:ext cx="2505075" cy="820735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Autofit/>
          </a:bodyPr>
          <a:lstStyle/>
          <a:p>
            <a:pPr indent="0" algn="r" fontAlgn="ctr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首次结合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icl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和程序分析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 indent="0" algn="r" fontAlgn="ctr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谷歌学术一年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被引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80+</a:t>
            </a:r>
          </a:p>
          <a:p>
            <a:pPr indent="0" algn="r" fontAlgn="ctr"/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F1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指标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↑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28.65%</a:t>
            </a:r>
          </a:p>
        </p:txBody>
      </p:sp>
      <p:sp>
        <p:nvSpPr>
          <p:cNvPr id="20" name="iṡḻíde"/>
          <p:cNvSpPr txBox="1"/>
          <p:nvPr>
            <p:custDataLst>
              <p:tags r:id="rId5"/>
            </p:custDataLst>
          </p:nvPr>
        </p:nvSpPr>
        <p:spPr bwMode="auto">
          <a:xfrm>
            <a:off x="3650316" y="4683620"/>
            <a:ext cx="2576830" cy="1179830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rmAutofit/>
          </a:bodyPr>
          <a:lstStyle/>
          <a:p>
            <a:pPr indent="0" algn="r" fontAlgn="auto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改变模型结构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r" fontAlgn="auto"/>
            <a:r>
              <a:rPr lang="zh-CN" altLang="en-US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在微调时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提出新的损失函数</a:t>
            </a:r>
            <a:endParaRPr lang="en-US" altLang="zh-CN" b="1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r"/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F1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指标 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↑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6.21%</a:t>
            </a:r>
          </a:p>
          <a:p>
            <a:pPr indent="0" algn="r" fontAlgn="auto"/>
            <a:endParaRPr lang="zh-CN" altLang="en-US" b="1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iṡḻíde"/>
          <p:cNvSpPr txBox="1"/>
          <p:nvPr>
            <p:custDataLst>
              <p:tags r:id="rId6"/>
            </p:custDataLst>
          </p:nvPr>
        </p:nvSpPr>
        <p:spPr bwMode="auto">
          <a:xfrm>
            <a:off x="9473087" y="3426003"/>
            <a:ext cx="2369820" cy="948690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rmAutofit/>
          </a:bodyPr>
          <a:lstStyle/>
          <a:p>
            <a:pPr indent="0" algn="ctr" fontAlgn="auto"/>
            <a:r>
              <a:rPr lang="zh-CN" altLang="en-US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系统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部署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开源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ctr" fontAlgn="auto"/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INT8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推理优化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7"/>
            </p:custDataLst>
          </p:nvPr>
        </p:nvSpPr>
        <p:spPr>
          <a:xfrm>
            <a:off x="6227444" y="1590964"/>
            <a:ext cx="2227262" cy="335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GRACE   </a:t>
            </a:r>
          </a:p>
        </p:txBody>
      </p:sp>
      <p:sp>
        <p:nvSpPr>
          <p:cNvPr id="25" name="îṡļidè"/>
          <p:cNvSpPr/>
          <p:nvPr>
            <p:custDataLst>
              <p:tags r:id="rId8"/>
            </p:custDataLst>
          </p:nvPr>
        </p:nvSpPr>
        <p:spPr>
          <a:xfrm>
            <a:off x="383540" y="4425175"/>
            <a:ext cx="3032760" cy="575945"/>
          </a:xfrm>
          <a:prstGeom prst="rect">
            <a:avLst/>
          </a:prstGeom>
          <a:solidFill>
            <a:srgbClr val="006AB7"/>
          </a:solidFill>
          <a:ln>
            <a:noFill/>
          </a:ln>
        </p:spPr>
        <p:style>
          <a:lnRef idx="2">
            <a:srgbClr val="698FCE">
              <a:shade val="50000"/>
            </a:srgbClr>
          </a:lnRef>
          <a:fillRef idx="1">
            <a:srgbClr val="698FCE"/>
          </a:fillRef>
          <a:effectRef idx="0">
            <a:srgbClr val="698FCE"/>
          </a:effectRef>
          <a:fontRef idx="minor">
            <a:srgbClr val="FFFFFF"/>
          </a:fontRef>
        </p:style>
        <p:txBody>
          <a:bodyPr anchor="ctr"/>
          <a:lstStyle/>
          <a:p>
            <a:pPr algn="ctr" fontAlgn="ctr"/>
            <a:r>
              <a:rPr 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APSEC</a:t>
            </a:r>
            <a:endParaRPr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ïsľiḓé"/>
          <p:cNvSpPr/>
          <p:nvPr>
            <p:custDataLst>
              <p:tags r:id="rId9"/>
            </p:custDataLst>
          </p:nvPr>
        </p:nvSpPr>
        <p:spPr>
          <a:xfrm rot="5400000">
            <a:off x="2793365" y="4370565"/>
            <a:ext cx="906780" cy="349885"/>
          </a:xfrm>
          <a:prstGeom prst="parallelogram">
            <a:avLst>
              <a:gd name="adj" fmla="val 104466"/>
            </a:avLst>
          </a:prstGeom>
          <a:solidFill>
            <a:srgbClr val="0078C4"/>
          </a:solidFill>
          <a:ln>
            <a:noFill/>
          </a:ln>
        </p:spPr>
        <p:style>
          <a:lnRef idx="2">
            <a:srgbClr val="698FCE">
              <a:shade val="50000"/>
            </a:srgbClr>
          </a:lnRef>
          <a:fillRef idx="1">
            <a:srgbClr val="698FCE"/>
          </a:fillRef>
          <a:effectRef idx="0">
            <a:srgbClr val="698FCE"/>
          </a:effectRef>
          <a:fontRef idx="minor">
            <a:srgbClr val="FFFFFF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7" name="iṥ1îḍê"/>
          <p:cNvSpPr/>
          <p:nvPr>
            <p:custDataLst>
              <p:tags r:id="rId10"/>
            </p:custDataLst>
          </p:nvPr>
        </p:nvSpPr>
        <p:spPr>
          <a:xfrm>
            <a:off x="3071495" y="4035920"/>
            <a:ext cx="3300095" cy="576000"/>
          </a:xfrm>
          <a:prstGeom prst="rect">
            <a:avLst/>
          </a:prstGeom>
          <a:solidFill>
            <a:srgbClr val="0082CC"/>
          </a:solidFill>
          <a:ln>
            <a:noFill/>
          </a:ln>
        </p:spPr>
        <p:style>
          <a:lnRef idx="2">
            <a:srgbClr val="698FCE">
              <a:shade val="50000"/>
            </a:srgbClr>
          </a:lnRef>
          <a:fillRef idx="1">
            <a:srgbClr val="698FCE"/>
          </a:fillRef>
          <a:effectRef idx="0">
            <a:srgbClr val="698FCE"/>
          </a:effectRef>
          <a:fontRef idx="minor">
            <a:srgbClr val="FFFFFF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0" name="íšḻîḑé"/>
          <p:cNvSpPr/>
          <p:nvPr>
            <p:custDataLst>
              <p:tags r:id="rId11"/>
            </p:custDataLst>
          </p:nvPr>
        </p:nvSpPr>
        <p:spPr>
          <a:xfrm rot="5400000">
            <a:off x="5632450" y="3874630"/>
            <a:ext cx="1039495" cy="435610"/>
          </a:xfrm>
          <a:prstGeom prst="parallelogram">
            <a:avLst>
              <a:gd name="adj" fmla="val 105939"/>
            </a:avLst>
          </a:prstGeom>
          <a:solidFill>
            <a:srgbClr val="E8AF00"/>
          </a:solidFill>
          <a:ln>
            <a:noFill/>
          </a:ln>
        </p:spPr>
        <p:style>
          <a:lnRef idx="2">
            <a:srgbClr val="698FCE">
              <a:shade val="50000"/>
            </a:srgbClr>
          </a:lnRef>
          <a:fillRef idx="1">
            <a:srgbClr val="698FCE"/>
          </a:fillRef>
          <a:effectRef idx="0">
            <a:srgbClr val="698FCE"/>
          </a:effectRef>
          <a:fontRef idx="minor">
            <a:srgbClr val="FFFFFF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2" name="iślíďe"/>
          <p:cNvSpPr/>
          <p:nvPr>
            <p:custDataLst>
              <p:tags r:id="rId12"/>
            </p:custDataLst>
          </p:nvPr>
        </p:nvSpPr>
        <p:spPr>
          <a:xfrm>
            <a:off x="5934710" y="3573640"/>
            <a:ext cx="3931920" cy="576000"/>
          </a:xfrm>
          <a:prstGeom prst="rect">
            <a:avLst/>
          </a:prstGeom>
          <a:solidFill>
            <a:srgbClr val="FAC128"/>
          </a:solidFill>
          <a:ln>
            <a:noFill/>
          </a:ln>
        </p:spPr>
        <p:style>
          <a:lnRef idx="2">
            <a:srgbClr val="698FCE">
              <a:shade val="50000"/>
            </a:srgbClr>
          </a:lnRef>
          <a:fillRef idx="1">
            <a:srgbClr val="698FCE"/>
          </a:fillRef>
          <a:effectRef idx="0">
            <a:srgbClr val="698FCE"/>
          </a:effectRef>
          <a:fontRef idx="minor">
            <a:srgbClr val="FFFFFF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3" name="isļíḓè"/>
          <p:cNvSpPr/>
          <p:nvPr>
            <p:custDataLst>
              <p:tags r:id="rId13"/>
            </p:custDataLst>
          </p:nvPr>
        </p:nvSpPr>
        <p:spPr>
          <a:xfrm rot="5400000">
            <a:off x="9156700" y="3445370"/>
            <a:ext cx="995680" cy="410210"/>
          </a:xfrm>
          <a:prstGeom prst="parallelogram">
            <a:avLst>
              <a:gd name="adj" fmla="val 106676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rgbClr val="698FCE">
              <a:shade val="50000"/>
            </a:srgbClr>
          </a:lnRef>
          <a:fillRef idx="1">
            <a:srgbClr val="698FCE"/>
          </a:fillRef>
          <a:effectRef idx="0">
            <a:srgbClr val="698FCE"/>
          </a:effectRef>
          <a:fontRef idx="minor">
            <a:srgbClr val="FFFFFF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4" name="îşľiḓe"/>
          <p:cNvSpPr/>
          <p:nvPr>
            <p:custDataLst>
              <p:tags r:id="rId14"/>
            </p:custDataLst>
          </p:nvPr>
        </p:nvSpPr>
        <p:spPr>
          <a:xfrm rot="5400000">
            <a:off x="10282555" y="2184260"/>
            <a:ext cx="791845" cy="2456815"/>
          </a:xfrm>
          <a:custGeom>
            <a:avLst/>
            <a:gdLst>
              <a:gd name="connsiteX0" fmla="*/ 0 w 1019112"/>
              <a:gd name="connsiteY0" fmla="*/ 298436 h 1650344"/>
              <a:gd name="connsiteX1" fmla="*/ 509556 w 1019112"/>
              <a:gd name="connsiteY1" fmla="*/ 0 h 1650344"/>
              <a:gd name="connsiteX2" fmla="*/ 1019112 w 1019112"/>
              <a:gd name="connsiteY2" fmla="*/ 298436 h 1650344"/>
              <a:gd name="connsiteX3" fmla="*/ 887593 w 1019112"/>
              <a:gd name="connsiteY3" fmla="*/ 298436 h 1650344"/>
              <a:gd name="connsiteX4" fmla="*/ 887593 w 1019112"/>
              <a:gd name="connsiteY4" fmla="*/ 1650344 h 1650344"/>
              <a:gd name="connsiteX5" fmla="*/ 147853 w 1019112"/>
              <a:gd name="connsiteY5" fmla="*/ 1650344 h 1650344"/>
              <a:gd name="connsiteX6" fmla="*/ 147853 w 1019112"/>
              <a:gd name="connsiteY6" fmla="*/ 298436 h 1650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9112" h="1650344">
                <a:moveTo>
                  <a:pt x="0" y="298436"/>
                </a:moveTo>
                <a:lnTo>
                  <a:pt x="509556" y="0"/>
                </a:lnTo>
                <a:lnTo>
                  <a:pt x="1019112" y="298436"/>
                </a:lnTo>
                <a:lnTo>
                  <a:pt x="887593" y="298436"/>
                </a:lnTo>
                <a:lnTo>
                  <a:pt x="887593" y="1650344"/>
                </a:lnTo>
                <a:lnTo>
                  <a:pt x="147853" y="1650344"/>
                </a:lnTo>
                <a:lnTo>
                  <a:pt x="147853" y="298436"/>
                </a:lnTo>
                <a:close/>
              </a:path>
            </a:pathLst>
          </a:custGeom>
          <a:solidFill>
            <a:srgbClr val="F8AA3A"/>
          </a:solidFill>
          <a:ln>
            <a:noFill/>
          </a:ln>
        </p:spPr>
        <p:style>
          <a:lnRef idx="2">
            <a:srgbClr val="698FCE">
              <a:shade val="50000"/>
            </a:srgbClr>
          </a:lnRef>
          <a:fillRef idx="1">
            <a:srgbClr val="698FCE"/>
          </a:fillRef>
          <a:effectRef idx="0">
            <a:srgbClr val="698FCE"/>
          </a:effectRef>
          <a:fontRef idx="minor">
            <a:srgbClr val="FFFFFF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9449435" y="3195180"/>
            <a:ext cx="22301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阿里云部署</a:t>
            </a:r>
          </a:p>
        </p:txBody>
      </p:sp>
      <p:sp>
        <p:nvSpPr>
          <p:cNvPr id="36" name="文本框 35"/>
          <p:cNvSpPr txBox="1"/>
          <p:nvPr>
            <p:custDataLst>
              <p:tags r:id="rId16"/>
            </p:custDataLst>
          </p:nvPr>
        </p:nvSpPr>
        <p:spPr>
          <a:xfrm>
            <a:off x="2891790" y="4082910"/>
            <a:ext cx="3604260" cy="497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ctr"/>
            <a:r>
              <a:rPr lang="en-US" altLang="zh-CN" sz="2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ASE-J </a:t>
            </a:r>
            <a:endParaRPr lang="zh-CN" altLang="en-US" sz="22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37" name="图片 36"/>
          <p:cNvPicPr/>
          <p:nvPr>
            <p:custDataLst>
              <p:tags r:id="rId17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2444" y="3107438"/>
            <a:ext cx="2379345" cy="11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65487" y="2466360"/>
            <a:ext cx="2602865" cy="1561779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12426" y="1940452"/>
            <a:ext cx="2334896" cy="1618189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18"/>
            </p:custDataLst>
          </p:nvPr>
        </p:nvSpPr>
        <p:spPr>
          <a:xfrm>
            <a:off x="3331751" y="2094083"/>
            <a:ext cx="2602865" cy="3641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SIFT   </a:t>
            </a: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73087" y="1705103"/>
            <a:ext cx="2007907" cy="1233415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19"/>
            </p:custDataLst>
          </p:nvPr>
        </p:nvSpPr>
        <p:spPr>
          <a:xfrm>
            <a:off x="9023465" y="1281166"/>
            <a:ext cx="2907149" cy="3264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Gradio_LLM4VD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20"/>
            </p:custDataLst>
          </p:nvPr>
        </p:nvSpPr>
        <p:spPr>
          <a:xfrm>
            <a:off x="6343015" y="3612375"/>
            <a:ext cx="3107055" cy="497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ctr"/>
            <a:r>
              <a:rPr lang="en-US" altLang="zh-CN" sz="2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JSS </a:t>
            </a:r>
            <a:endParaRPr lang="zh-CN" altLang="en-US" sz="22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课题研究方案</a:t>
            </a:r>
            <a:r>
              <a:rPr lang="en-US" altLang="zh-CN" dirty="0"/>
              <a:t>——</a:t>
            </a:r>
            <a:r>
              <a:rPr lang="zh-CN" altLang="en-US" dirty="0"/>
              <a:t>方法一框架</a:t>
            </a:r>
          </a:p>
        </p:txBody>
      </p:sp>
      <p:pic>
        <p:nvPicPr>
          <p:cNvPr id="5" name="图片 4"/>
          <p:cNvPicPr/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2839" y="1463196"/>
            <a:ext cx="8905912" cy="39481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23FD3616-96D6-B74B-8308-E2EE3182C996}"/>
              </a:ext>
            </a:extLst>
          </p:cNvPr>
          <p:cNvGrpSpPr/>
          <p:nvPr/>
        </p:nvGrpSpPr>
        <p:grpSpPr>
          <a:xfrm>
            <a:off x="35822" y="793600"/>
            <a:ext cx="11962099" cy="5680075"/>
            <a:chOff x="-128" y="1285"/>
            <a:chExt cx="19288" cy="8945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DDD017-EDDB-182D-75F5-40E2002A7544}"/>
                </a:ext>
              </a:extLst>
            </p:cNvPr>
            <p:cNvSpPr txBox="1"/>
            <p:nvPr/>
          </p:nvSpPr>
          <p:spPr>
            <a:xfrm>
              <a:off x="-128" y="9069"/>
              <a:ext cx="17961" cy="11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Times New Roman" panose="02020603050405020304" charset="0"/>
                  <a:cs typeface="Times New Roman" panose="02020603050405020304" charset="0"/>
                </a:rPr>
                <a:t>[1] </a:t>
              </a:r>
              <a:r>
                <a:rPr lang="en-GB" altLang="zh-CN" sz="1400" dirty="0">
                  <a:latin typeface="Times New Roman" panose="02020603050405020304" charset="0"/>
                  <a:cs typeface="Times New Roman" panose="02020603050405020304" charset="0"/>
                </a:rPr>
                <a:t>Feng, Zhangyin, et al. "CodeBERT: A Pre-Trained Model for Programming and Natural Languages." EMNLP 2020</a:t>
              </a:r>
            </a:p>
            <a:p>
              <a:r>
                <a:rPr lang="en-US" altLang="zh-CN" sz="1400" dirty="0">
                  <a:latin typeface="Times New Roman" panose="02020603050405020304" charset="0"/>
                  <a:cs typeface="Times New Roman" panose="02020603050405020304" charset="0"/>
                </a:rPr>
                <a:t>[2] </a:t>
              </a:r>
              <a:r>
                <a:rPr lang="en-GB" altLang="zh-CN" sz="1400" dirty="0">
                  <a:latin typeface="Times New Roman" panose="02020603050405020304" charset="0"/>
                  <a:cs typeface="Times New Roman" panose="02020603050405020304" charset="0"/>
                </a:rPr>
                <a:t>Wang, Yue, et al. "CodeT5: Identifier-aware Unified Pre-trained Encoder-Decoder Models for Code Understanding and Generation."  </a:t>
              </a:r>
              <a:r>
                <a:rPr lang="en-GB" altLang="zh-CN" sz="1400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EMNLP</a:t>
              </a:r>
              <a:r>
                <a:rPr lang="en-US" altLang="en-GB" sz="1400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</a:t>
              </a:r>
              <a:r>
                <a:rPr lang="en-GB" altLang="zh-CN" sz="1400" dirty="0">
                  <a:latin typeface="Times New Roman" panose="02020603050405020304" charset="0"/>
                  <a:cs typeface="Times New Roman" panose="02020603050405020304" charset="0"/>
                </a:rPr>
                <a:t>2021</a:t>
              </a:r>
            </a:p>
            <a:p>
              <a:r>
                <a:rPr lang="en-US" altLang="zh-CN" sz="1400" dirty="0">
                  <a:latin typeface="Times New Roman" panose="02020603050405020304" charset="0"/>
                  <a:cs typeface="Times New Roman" panose="02020603050405020304" charset="0"/>
                </a:rPr>
                <a:t>[3] </a:t>
              </a:r>
              <a:r>
                <a:rPr lang="en-GB" altLang="zh-CN" sz="1400" dirty="0">
                  <a:latin typeface="Times New Roman" panose="02020603050405020304" charset="0"/>
                  <a:cs typeface="Times New Roman" panose="02020603050405020304" charset="0"/>
                </a:rPr>
                <a:t>Lu, Shuai, et al. "</a:t>
              </a:r>
              <a:r>
                <a:rPr lang="en-GB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CodeXGLUE</a:t>
              </a:r>
              <a:r>
                <a:rPr lang="en-GB" altLang="zh-CN" sz="1400" dirty="0">
                  <a:latin typeface="Times New Roman" panose="02020603050405020304" charset="0"/>
                  <a:cs typeface="Times New Roman" panose="02020603050405020304" charset="0"/>
                </a:rPr>
                <a:t>: A Machine Learning Benchmark Dataset for Code Understanding and Generation." </a:t>
              </a:r>
              <a:r>
                <a:rPr lang="en-GB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NeurIPS</a:t>
              </a:r>
              <a:r>
                <a:rPr lang="en-GB" altLang="zh-CN" sz="1400" dirty="0">
                  <a:latin typeface="Times New Roman" panose="02020603050405020304" charset="0"/>
                  <a:cs typeface="Times New Roman" panose="02020603050405020304" charset="0"/>
                </a:rPr>
                <a:t> 2021</a:t>
              </a: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37EFA1D7-A367-C818-4F64-08FB5A1E1116}"/>
                </a:ext>
              </a:extLst>
            </p:cNvPr>
            <p:cNvGrpSpPr/>
            <p:nvPr/>
          </p:nvGrpSpPr>
          <p:grpSpPr>
            <a:xfrm>
              <a:off x="14660" y="1285"/>
              <a:ext cx="4151" cy="7562"/>
              <a:chOff x="14660" y="1285"/>
              <a:chExt cx="4151" cy="7562"/>
            </a:xfrm>
          </p:grpSpPr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0C0E62F7-3FFE-06A8-23BB-152828C9EFFF}"/>
                  </a:ext>
                </a:extLst>
              </p:cNvPr>
              <p:cNvGrpSpPr/>
              <p:nvPr/>
            </p:nvGrpSpPr>
            <p:grpSpPr>
              <a:xfrm>
                <a:off x="14660" y="1285"/>
                <a:ext cx="4151" cy="7562"/>
                <a:chOff x="13178833" y="-1279425"/>
                <a:chExt cx="2505890" cy="4801702"/>
              </a:xfrm>
            </p:grpSpPr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E8ACBE1-F99D-B204-BC73-EC53DB4ED016}"/>
                    </a:ext>
                  </a:extLst>
                </p:cNvPr>
                <p:cNvSpPr txBox="1"/>
                <p:nvPr/>
              </p:nvSpPr>
              <p:spPr>
                <a:xfrm>
                  <a:off x="14001050" y="3153977"/>
                  <a:ext cx="1296712" cy="36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dirty="0" err="1">
                      <a:latin typeface="Arial" panose="020B0604020202020204" pitchFamily="34" charset="0"/>
                      <a:ea typeface="苹方 中等" panose="020B0400000000000000" pitchFamily="34" charset="-122"/>
                      <a:cs typeface="Arial" panose="020B0604020202020204" pitchFamily="34" charset="0"/>
                    </a:rPr>
                    <a:t>CodeGPT</a:t>
                  </a:r>
                  <a:r>
                    <a:rPr lang="en-US" altLang="zh-CN" baseline="30000" dirty="0">
                      <a:latin typeface="Arial" panose="020B0604020202020204" pitchFamily="34" charset="0"/>
                      <a:ea typeface="苹方 中等" panose="020B0400000000000000" pitchFamily="34" charset="-122"/>
                      <a:cs typeface="Arial" panose="020B0604020202020204" pitchFamily="34" charset="0"/>
                    </a:rPr>
                    <a:t>[3]</a:t>
                  </a:r>
                </a:p>
              </p:txBody>
            </p: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5AA1CE0-54A5-26B4-21AE-F249B42E19C9}"/>
                    </a:ext>
                  </a:extLst>
                </p:cNvPr>
                <p:cNvSpPr txBox="1"/>
                <p:nvPr/>
              </p:nvSpPr>
              <p:spPr>
                <a:xfrm>
                  <a:off x="13984562" y="1534162"/>
                  <a:ext cx="1261883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dirty="0">
                      <a:latin typeface="Arial" panose="020B0604020202020204" pitchFamily="34" charset="0"/>
                      <a:ea typeface="苹方 中等" panose="020B0400000000000000" pitchFamily="34" charset="-122"/>
                      <a:cs typeface="Arial" panose="020B0604020202020204" pitchFamily="34" charset="0"/>
                    </a:rPr>
                    <a:t>CodeT5</a:t>
                  </a:r>
                  <a:r>
                    <a:rPr lang="en-US" altLang="zh-CN" baseline="30000" dirty="0">
                      <a:latin typeface="Arial" panose="020B0604020202020204" pitchFamily="34" charset="0"/>
                      <a:ea typeface="苹方 中等" panose="020B0400000000000000" pitchFamily="34" charset="-122"/>
                      <a:cs typeface="Arial" panose="020B0604020202020204" pitchFamily="34" charset="0"/>
                    </a:rPr>
                    <a:t>[2]</a:t>
                  </a:r>
                </a:p>
              </p:txBody>
            </p:sp>
            <p:grpSp>
              <p:nvGrpSpPr>
                <p:cNvPr id="22" name="组合 21">
                  <a:extLst>
                    <a:ext uri="{FF2B5EF4-FFF2-40B4-BE49-F238E27FC236}">
                      <a16:creationId xmlns:a16="http://schemas.microsoft.com/office/drawing/2014/main" id="{267AEA46-60DC-E90D-8814-DB52DD82DF16}"/>
                    </a:ext>
                  </a:extLst>
                </p:cNvPr>
                <p:cNvGrpSpPr/>
                <p:nvPr/>
              </p:nvGrpSpPr>
              <p:grpSpPr>
                <a:xfrm>
                  <a:off x="13178833" y="-1279425"/>
                  <a:ext cx="2505890" cy="1529532"/>
                  <a:chOff x="13178833" y="-1279425"/>
                  <a:chExt cx="2505890" cy="1529532"/>
                </a:xfrm>
              </p:grpSpPr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FFBE45BF-9922-ACFD-204C-56DFBF6C4B3D}"/>
                      </a:ext>
                    </a:extLst>
                  </p:cNvPr>
                  <p:cNvSpPr txBox="1"/>
                  <p:nvPr/>
                </p:nvSpPr>
                <p:spPr>
                  <a:xfrm>
                    <a:off x="13797187" y="-118193"/>
                    <a:ext cx="1454089" cy="3683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dirty="0" err="1">
                        <a:latin typeface="Arial" panose="020B0604020202020204" pitchFamily="34" charset="0"/>
                        <a:ea typeface="苹方 中等" panose="020B0400000000000000" pitchFamily="34" charset="-122"/>
                        <a:cs typeface="Arial" panose="020B0604020202020204" pitchFamily="34" charset="0"/>
                      </a:rPr>
                      <a:t>CodeBERT</a:t>
                    </a:r>
                    <a:r>
                      <a:rPr lang="en-US" altLang="zh-CN" baseline="30000" dirty="0">
                        <a:latin typeface="Arial" panose="020B0604020202020204" pitchFamily="34" charset="0"/>
                        <a:ea typeface="苹方 中等" panose="020B0400000000000000" pitchFamily="34" charset="-122"/>
                        <a:cs typeface="Arial" panose="020B0604020202020204" pitchFamily="34" charset="0"/>
                      </a:rPr>
                      <a:t>[1]</a:t>
                    </a:r>
                  </a:p>
                </p:txBody>
              </p:sp>
              <p:pic>
                <p:nvPicPr>
                  <p:cNvPr id="24" name="图片 23">
                    <a:extLst>
                      <a:ext uri="{FF2B5EF4-FFF2-40B4-BE49-F238E27FC236}">
                        <a16:creationId xmlns:a16="http://schemas.microsoft.com/office/drawing/2014/main" id="{A11CBAF6-2538-BC88-DAF6-CC2B6458784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178833" y="-1279425"/>
                    <a:ext cx="2505890" cy="1096645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CB4C08DE-6431-948D-00DF-1751C47AEEA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>
                <a:off x="16022" y="6720"/>
                <a:ext cx="2148" cy="1501"/>
              </a:xfrm>
              <a:prstGeom prst="rect">
                <a:avLst/>
              </a:prstGeom>
            </p:spPr>
          </p:pic>
        </p:grpSp>
        <p:pic>
          <p:nvPicPr>
            <p:cNvPr id="9" name="图片 8" descr="CodeT5">
              <a:extLst>
                <a:ext uri="{FF2B5EF4-FFF2-40B4-BE49-F238E27FC236}">
                  <a16:creationId xmlns:a16="http://schemas.microsoft.com/office/drawing/2014/main" id="{37ADC6DD-40E0-6244-33D5-A6BC01A9E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618" y="4378"/>
              <a:ext cx="4542" cy="1369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38CD29B-6C8E-A25F-D4E0-197EA7B447B4}"/>
                </a:ext>
              </a:extLst>
            </p:cNvPr>
            <p:cNvSpPr txBox="1"/>
            <p:nvPr/>
          </p:nvSpPr>
          <p:spPr>
            <a:xfrm>
              <a:off x="15582" y="3524"/>
              <a:ext cx="2715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/>
                <a:t> </a:t>
              </a:r>
              <a:r>
                <a:rPr lang="en-US" altLang="zh-CN" dirty="0" err="1">
                  <a:solidFill>
                    <a:schemeClr val="accent1"/>
                  </a:solidFill>
                  <a:latin typeface="Arial" panose="020B0604020202020204" pitchFamily="34" charset="0"/>
                  <a:ea typeface="苹方 中等" panose="020B0400000000000000" pitchFamily="34" charset="-122"/>
                  <a:cs typeface="Arial" panose="020B0604020202020204" pitchFamily="34" charset="0"/>
                </a:rPr>
                <a:t>Encoder-only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4EAA3BB-4909-BC52-9CBE-62A71C1BAC98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15371" y="6127"/>
              <a:ext cx="3449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/>
                <a:t> </a:t>
              </a:r>
              <a:r>
                <a:rPr lang="en-US" altLang="zh-CN" dirty="0" err="1">
                  <a:solidFill>
                    <a:schemeClr val="accent1"/>
                  </a:solidFill>
                  <a:latin typeface="Arial" panose="020B0604020202020204" pitchFamily="34" charset="0"/>
                  <a:ea typeface="苹方 中等" panose="020B0400000000000000" pitchFamily="34" charset="-122"/>
                  <a:cs typeface="Arial" panose="020B0604020202020204" pitchFamily="34" charset="0"/>
                </a:rPr>
                <a:t>Encoder-Decoder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04EAA9A-4E57-76EF-1BB6-1075812A3448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5848" y="8678"/>
              <a:ext cx="2715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dirty="0" err="1">
                  <a:solidFill>
                    <a:schemeClr val="accent1"/>
                  </a:solidFill>
                  <a:latin typeface="Arial" panose="020B0604020202020204" pitchFamily="34" charset="0"/>
                  <a:ea typeface="苹方 中等" panose="020B0400000000000000" pitchFamily="34" charset="-122"/>
                  <a:cs typeface="Arial" panose="020B0604020202020204" pitchFamily="34" charset="0"/>
                </a:rPr>
                <a:t>Decoder-only</a:t>
              </a:r>
            </a:p>
          </p:txBody>
        </p:sp>
      </p:grp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5764E9A-4359-509F-69D0-E298631AA010}"/>
              </a:ext>
            </a:extLst>
          </p:cNvPr>
          <p:cNvCxnSpPr/>
          <p:nvPr/>
        </p:nvCxnSpPr>
        <p:spPr>
          <a:xfrm>
            <a:off x="9090215" y="793600"/>
            <a:ext cx="0" cy="5166136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实验问题设置与结果</a:t>
            </a:r>
          </a:p>
        </p:txBody>
      </p:sp>
      <p:pic>
        <p:nvPicPr>
          <p:cNvPr id="6" name="图片 5" descr="question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502950" y="1531342"/>
            <a:ext cx="549275" cy="5492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052225" y="1621314"/>
            <a:ext cx="689044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提示微调（方法一）在漏洞检测任务上的有效性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3815" y="2235200"/>
            <a:ext cx="12086590" cy="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5897"/>
              </p:ext>
            </p:extLst>
          </p:nvPr>
        </p:nvGraphicFramePr>
        <p:xfrm>
          <a:off x="61590" y="2294891"/>
          <a:ext cx="1206882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0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9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5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47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8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89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69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689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624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870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b="0" dirty="0"/>
                        <a:t>模型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b="0" dirty="0"/>
                        <a:t>方法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 err="1"/>
                        <a:t>FFMpeg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Reveal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Big-</a:t>
                      </a:r>
                      <a:r>
                        <a:rPr lang="en-US" altLang="zh-CN" b="0" dirty="0" err="1"/>
                        <a:t>Vul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/>
                          </a:solidFill>
                        </a:rPr>
                        <a:t>准确率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/>
                          </a:solidFill>
                        </a:rPr>
                        <a:t>精确率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/>
                          </a:solidFill>
                        </a:rPr>
                        <a:t>召回率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</a:rPr>
                        <a:t>F1</a:t>
                      </a:r>
                      <a:r>
                        <a:rPr lang="zh-CN" altLang="en-US" sz="1200" dirty="0">
                          <a:solidFill>
                            <a:schemeClr val="bg1"/>
                          </a:solidFill>
                        </a:rPr>
                        <a:t>分数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/>
                          </a:solidFill>
                        </a:rPr>
                        <a:t>准确率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/>
                          </a:solidFill>
                        </a:rPr>
                        <a:t>精确率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/>
                          </a:solidFill>
                        </a:rPr>
                        <a:t>召回率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</a:rPr>
                        <a:t>F1</a:t>
                      </a:r>
                      <a:r>
                        <a:rPr lang="zh-CN" altLang="en-US" sz="1200" dirty="0">
                          <a:solidFill>
                            <a:schemeClr val="bg1"/>
                          </a:solidFill>
                        </a:rPr>
                        <a:t>分数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/>
                          </a:solidFill>
                        </a:rPr>
                        <a:t>准确率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/>
                          </a:solidFill>
                        </a:rPr>
                        <a:t>精确率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/>
                          </a:solidFill>
                        </a:rPr>
                        <a:t>召回率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</a:rPr>
                        <a:t>F1</a:t>
                      </a:r>
                      <a:r>
                        <a:rPr lang="zh-CN" altLang="en-US" sz="1200" dirty="0">
                          <a:solidFill>
                            <a:schemeClr val="bg1"/>
                          </a:solidFill>
                        </a:rPr>
                        <a:t>分数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CodeBERT</a:t>
                      </a:r>
                      <a:endParaRPr lang="en-US" altLang="zh-CN" sz="16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预训练微调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61.71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56.70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50.29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53.30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94.24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47.90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31.99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38.36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88.21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40.63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33.75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36.87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/>
                        <a:t>提示微调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62.99</a:t>
                      </a:r>
                      <a:endParaRPr lang="zh-CN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61.08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52.27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56.33</a:t>
                      </a:r>
                      <a:endParaRPr lang="zh-CN" altLang="en-US" sz="1400" b="1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97.98</a:t>
                      </a:r>
                      <a:endParaRPr lang="zh-CN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91.55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70.50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79.66</a:t>
                      </a:r>
                      <a:endParaRPr lang="zh-CN" altLang="en-US" sz="1400" b="1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89.05</a:t>
                      </a:r>
                      <a:endParaRPr lang="zh-CN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43.13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34.31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38.21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CodeT5</a:t>
                      </a:r>
                      <a:endParaRPr lang="zh-CN" altLang="en-US" sz="16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/>
                        <a:t>预训练微调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62.13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57.45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54.54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55.95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95.13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55.13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68.98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61.29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85.22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40.91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34.16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37.23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/>
                        <a:t>提示微调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63.35</a:t>
                      </a:r>
                      <a:endParaRPr lang="zh-CN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62.41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55.30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58.64</a:t>
                      </a:r>
                      <a:endParaRPr lang="zh-CN" altLang="en-US" sz="1400" b="1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98.13</a:t>
                      </a:r>
                      <a:endParaRPr lang="zh-CN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93.13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74.77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82.94</a:t>
                      </a:r>
                      <a:endParaRPr lang="zh-CN" altLang="en-US" sz="1400" b="1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89.46</a:t>
                      </a:r>
                      <a:endParaRPr lang="zh-CN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43.20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36.08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39.32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CodeGPT</a:t>
                      </a:r>
                      <a:endParaRPr lang="zh-CN" altLang="en-US" sz="16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/>
                        <a:t>预训练微调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62.49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57.16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51.36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54.10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95.13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49.62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60.10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54.36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84.29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39.16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34.01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36.40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/>
                        <a:t>提示微调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63.03</a:t>
                      </a:r>
                      <a:endParaRPr lang="zh-CN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59.01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62.88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60.88</a:t>
                      </a:r>
                      <a:endParaRPr lang="zh-CN" altLang="en-US" sz="1400" b="1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97.42</a:t>
                      </a:r>
                      <a:endParaRPr lang="zh-CN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82.51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69.04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75.17</a:t>
                      </a:r>
                      <a:endParaRPr lang="zh-CN" altLang="en-US" sz="1400" b="1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87.42</a:t>
                      </a:r>
                      <a:endParaRPr lang="zh-CN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40.64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35.57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37.93</a:t>
                      </a:r>
                      <a:endParaRPr lang="zh-CN" alt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课题研究方案</a:t>
            </a:r>
            <a:r>
              <a:rPr lang="en-US" altLang="zh-CN" dirty="0"/>
              <a:t>——</a:t>
            </a:r>
            <a:r>
              <a:rPr lang="zh-CN" altLang="en-US" dirty="0"/>
              <a:t>方法二框架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416" y="900504"/>
            <a:ext cx="7436964" cy="52509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实验问题设置与结果</a:t>
            </a:r>
          </a:p>
        </p:txBody>
      </p:sp>
      <p:pic>
        <p:nvPicPr>
          <p:cNvPr id="2" name="图片 1" descr="question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752819" y="955922"/>
            <a:ext cx="549275" cy="549275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0475" y="1706376"/>
          <a:ext cx="1206882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0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9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5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47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8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958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689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624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870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b="0" dirty="0"/>
                        <a:t>模型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b="0" dirty="0"/>
                        <a:t>方法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 err="1"/>
                        <a:t>FFMpeg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Reveal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Big-</a:t>
                      </a:r>
                      <a:r>
                        <a:rPr lang="en-US" altLang="zh-CN" b="0" dirty="0" err="1"/>
                        <a:t>Vul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bg1"/>
                          </a:solidFill>
                        </a:rPr>
                        <a:t>准确率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bg1"/>
                          </a:solidFill>
                        </a:rPr>
                        <a:t>精确率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bg1"/>
                          </a:solidFill>
                        </a:rPr>
                        <a:t>召回率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</a:rPr>
                        <a:t>F1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</a:rPr>
                        <a:t>分数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bg1"/>
                          </a:solidFill>
                        </a:rPr>
                        <a:t>准确率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bg1"/>
                          </a:solidFill>
                        </a:rPr>
                        <a:t>精确率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bg1"/>
                          </a:solidFill>
                        </a:rPr>
                        <a:t>召回率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</a:rPr>
                        <a:t>F1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</a:rPr>
                        <a:t>分数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bg1"/>
                          </a:solidFill>
                        </a:rPr>
                        <a:t>准确率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bg1"/>
                          </a:solidFill>
                        </a:rPr>
                        <a:t>精确率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bg1"/>
                          </a:solidFill>
                        </a:rPr>
                        <a:t>召回率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</a:rPr>
                        <a:t>F1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</a:rPr>
                        <a:t>分数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基于序列</a:t>
                      </a:r>
                      <a:endParaRPr lang="en-US" altLang="zh-CN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Vuldeepecker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49.91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46.05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32.55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39.14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73.37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21.13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13.10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16.17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81.19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38.44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12.75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19.15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err="1"/>
                        <a:t>SySeVR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47.85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46.06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58.81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51.66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74.33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40.07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24.94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30.74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90.10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30.91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14.08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19.34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Russell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57.60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54.76</a:t>
                      </a:r>
                      <a:endParaRPr lang="zh-CN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40.72</a:t>
                      </a:r>
                      <a:endParaRPr lang="zh-CN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46.71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68.51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16.21</a:t>
                      </a:r>
                      <a:endParaRPr lang="zh-CN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52.68</a:t>
                      </a:r>
                      <a:endParaRPr lang="zh-CN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24.79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86.85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14.86</a:t>
                      </a:r>
                      <a:endParaRPr lang="zh-CN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26.97</a:t>
                      </a:r>
                      <a:endParaRPr lang="zh-CN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19.17</a:t>
                      </a:r>
                      <a:endParaRPr lang="zh-CN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基于图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Devign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56.89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52.50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64.67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57.95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87.49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31.55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36.65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33.91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92.78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30.61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15.96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20.98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Reveal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61.07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55.50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70.70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62.19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81.77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31.55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61.14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41.62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87.14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17.22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34.04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22.87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AMPLE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63.01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53.26</a:t>
                      </a:r>
                      <a:endParaRPr lang="zh-CN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83.21</a:t>
                      </a:r>
                      <a:endParaRPr lang="zh-CN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64.95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90.72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50.06</a:t>
                      </a:r>
                      <a:endParaRPr lang="zh-CN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43.28</a:t>
                      </a:r>
                      <a:endParaRPr lang="zh-CN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46.42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93.14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28.98</a:t>
                      </a:r>
                      <a:endParaRPr lang="zh-CN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34.58</a:t>
                      </a:r>
                      <a:endParaRPr lang="zh-CN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32.11</a:t>
                      </a:r>
                      <a:endParaRPr lang="zh-CN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基于大模型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LineVul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63.75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63.98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50.51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56.45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92.43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48.86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41.35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44.79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95.82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90.68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83.31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86.94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err="1"/>
                        <a:t>CodeBERT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62.08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62.94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58.70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60.74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88.21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48.95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35.35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41.06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94.24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47.90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31.99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38.36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GRACE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59.78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53.94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82.13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65.11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89.73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33.21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61.53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43.13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90.73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32.52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39.08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35.50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Ours</a:t>
                      </a:r>
                      <a:endParaRPr lang="zh-CN" altLang="en-US" sz="16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SIFT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65.02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64.12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69.30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66.61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93.27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49.16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52.75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50.89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96.88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92.83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86.75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89.69</a:t>
                      </a:r>
                      <a:endParaRPr lang="zh-CN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441943" y="1045893"/>
            <a:ext cx="6198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SIFT</a:t>
            </a:r>
            <a:r>
              <a:rPr lang="zh-CN" altLang="en-US" dirty="0"/>
              <a:t>（方法二）在漏洞检测任务上的有效性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课题研究方案</a:t>
            </a:r>
            <a:r>
              <a:rPr lang="en-US" altLang="zh-CN" dirty="0"/>
              <a:t>——</a:t>
            </a:r>
            <a:r>
              <a:rPr lang="zh-CN" altLang="en-US" dirty="0"/>
              <a:t>方法三框架</a:t>
            </a:r>
          </a:p>
        </p:txBody>
      </p:sp>
      <p:pic>
        <p:nvPicPr>
          <p:cNvPr id="3" name="图片 2" descr="专利方法图.draw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246" y="915368"/>
            <a:ext cx="7922895" cy="5399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实验问题设置与结果</a:t>
            </a:r>
          </a:p>
        </p:txBody>
      </p:sp>
      <p:pic>
        <p:nvPicPr>
          <p:cNvPr id="2" name="图片 1" descr="question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876794" y="1336253"/>
            <a:ext cx="549275" cy="549275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1591" y="2101236"/>
          <a:ext cx="1206881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0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9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83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83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83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53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140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83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83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283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/>
                        <a:t>数据集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 err="1"/>
                        <a:t>FFMpeg</a:t>
                      </a:r>
                      <a:endParaRPr lang="zh-CN" altLang="en-US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Reveal</a:t>
                      </a:r>
                      <a:endParaRPr lang="zh-CN" altLang="en-US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Big-</a:t>
                      </a:r>
                      <a:r>
                        <a:rPr lang="en-US" altLang="zh-CN" b="0" dirty="0" err="1"/>
                        <a:t>Vul</a:t>
                      </a:r>
                      <a:endParaRPr lang="zh-CN" altLang="en-US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</a:rPr>
                        <a:t>基线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准确率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精确率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召回率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</a:rPr>
                        <a:t>F1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分数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准确率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精确率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召回率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</a:rPr>
                        <a:t>F1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分数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准确率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精确率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召回率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</a:rPr>
                        <a:t>F1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分数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VulDeePecker</a:t>
                      </a:r>
                      <a:endParaRPr lang="zh-CN" alt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49.91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46.05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32.55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39.14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73.37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21.13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13.10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16.17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81.19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38.44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12.75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19.15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Russell</a:t>
                      </a:r>
                      <a:endParaRPr lang="zh-CN" alt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57.60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54.76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40.72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46.71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68.51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16.21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52.68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24.79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86.85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14.86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26.97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19.17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SySeVR</a:t>
                      </a:r>
                      <a:endParaRPr lang="zh-CN" alt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47.85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46.06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58.81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51.66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74.33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40.07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24.94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30.74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90.10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30.91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14.08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19.34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Devign</a:t>
                      </a:r>
                      <a:endParaRPr lang="zh-CN" alt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56.89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52.50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64.67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57.95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87.49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31.55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36.65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33.91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92.78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30.61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15.96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20.98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Reveal</a:t>
                      </a:r>
                      <a:endParaRPr lang="zh-CN" alt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61.07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55.50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70.70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62.19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81.77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31.55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61.14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41.62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87.14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17.22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34.04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22.87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IVDect</a:t>
                      </a:r>
                      <a:endParaRPr lang="zh-CN" alt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57.26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52.37</a:t>
                      </a:r>
                      <a:endParaRPr lang="zh-CN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57.55</a:t>
                      </a:r>
                      <a:endParaRPr lang="zh-CN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54.84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</a:t>
                      </a:r>
                      <a:endParaRPr lang="zh-CN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</a:t>
                      </a:r>
                      <a:endParaRPr lang="zh-CN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</a:t>
                      </a:r>
                      <a:endParaRPr lang="zh-CN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</a:t>
                      </a:r>
                      <a:endParaRPr lang="zh-CN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</a:t>
                      </a:r>
                      <a:endParaRPr lang="zh-CN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</a:t>
                      </a:r>
                      <a:endParaRPr lang="zh-CN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GRACE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59.78</a:t>
                      </a:r>
                      <a:endParaRPr lang="zh-CN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53.94</a:t>
                      </a:r>
                      <a:endParaRPr lang="zh-CN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82.13</a:t>
                      </a:r>
                      <a:endParaRPr lang="zh-CN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65.11</a:t>
                      </a:r>
                      <a:endParaRPr lang="zh-CN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89.73</a:t>
                      </a:r>
                      <a:endParaRPr lang="zh-CN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33.21</a:t>
                      </a:r>
                      <a:endParaRPr lang="zh-CN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61.53</a:t>
                      </a:r>
                      <a:endParaRPr lang="zh-CN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43.13</a:t>
                      </a:r>
                      <a:endParaRPr lang="zh-CN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90.73</a:t>
                      </a:r>
                      <a:endParaRPr lang="zh-CN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32.52</a:t>
                      </a:r>
                      <a:endParaRPr lang="zh-CN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39.08</a:t>
                      </a:r>
                      <a:endParaRPr lang="zh-CN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35.50</a:t>
                      </a:r>
                      <a:endParaRPr lang="zh-CN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426069" y="1450671"/>
            <a:ext cx="6198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GRACE</a:t>
            </a:r>
            <a:r>
              <a:rPr lang="zh-CN" altLang="en-US" dirty="0"/>
              <a:t>（方法三）在漏洞检测任务上的有效性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2"/>
          <p:cNvSpPr txBox="1"/>
          <p:nvPr/>
        </p:nvSpPr>
        <p:spPr>
          <a:xfrm>
            <a:off x="6222256" y="3977928"/>
            <a:ext cx="2073639" cy="2092877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12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zh-CN" altLang="en-US" sz="128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38"/>
          <p:cNvSpPr txBox="1"/>
          <p:nvPr/>
        </p:nvSpPr>
        <p:spPr>
          <a:xfrm>
            <a:off x="8255004" y="4572311"/>
            <a:ext cx="2451947" cy="784826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43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系统展示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622F456-C8D3-A5AE-B032-CC629D0C8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230" y="754744"/>
            <a:ext cx="9171752" cy="55956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系统展示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043" y="4217334"/>
            <a:ext cx="719865" cy="719865"/>
          </a:xfrm>
          <a:prstGeom prst="rect">
            <a:avLst/>
          </a:prstGeom>
        </p:spPr>
      </p:pic>
      <p:sp>
        <p:nvSpPr>
          <p:cNvPr id="7" name="iṡḻíde"/>
          <p:cNvSpPr txBox="1"/>
          <p:nvPr>
            <p:custDataLst>
              <p:tags r:id="rId1"/>
            </p:custDataLst>
          </p:nvPr>
        </p:nvSpPr>
        <p:spPr bwMode="auto">
          <a:xfrm>
            <a:off x="8283910" y="4089959"/>
            <a:ext cx="2505075" cy="1811320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Autofit/>
          </a:bodyPr>
          <a:lstStyle/>
          <a:p>
            <a:pPr marL="342900" indent="-342900" fontAlgn="ctr"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多格式上传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 marL="342900" indent="-342900" fontAlgn="ctr"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检测结果多元展示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 marL="342900" indent="-342900" fontAlgn="ctr">
              <a:buFont typeface="+mj-lt"/>
              <a:buAutoNum type="arabicPeriod"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Int8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量化加速推理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 indent="0" fontAlgn="ctr"/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 indent="0" fontAlgn="ctr"/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 indent="0" fontAlgn="ctr"/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2"/>
          <p:cNvSpPr txBox="1"/>
          <p:nvPr/>
        </p:nvSpPr>
        <p:spPr>
          <a:xfrm>
            <a:off x="5942221" y="3626512"/>
            <a:ext cx="2051050" cy="2090420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12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zh-CN" altLang="en-US" sz="128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38"/>
          <p:cNvSpPr txBox="1"/>
          <p:nvPr/>
        </p:nvSpPr>
        <p:spPr>
          <a:xfrm>
            <a:off x="8081014" y="4281855"/>
            <a:ext cx="2451947" cy="784826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43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已有成果</a:t>
            </a:r>
          </a:p>
        </p:txBody>
      </p:sp>
      <p:grpSp>
        <p:nvGrpSpPr>
          <p:cNvPr id="272" name="组合 271"/>
          <p:cNvGrpSpPr/>
          <p:nvPr/>
        </p:nvGrpSpPr>
        <p:grpSpPr>
          <a:xfrm>
            <a:off x="448945" y="1377517"/>
            <a:ext cx="11294110" cy="5324491"/>
            <a:chOff x="4976946" y="1425359"/>
            <a:chExt cx="11294110" cy="4551680"/>
          </a:xfrm>
        </p:grpSpPr>
        <p:sp>
          <p:nvSpPr>
            <p:cNvPr id="264" name="文本框 263"/>
            <p:cNvSpPr txBox="1"/>
            <p:nvPr/>
          </p:nvSpPr>
          <p:spPr>
            <a:xfrm>
              <a:off x="14879860" y="1571987"/>
              <a:ext cx="112395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zh-CN" sz="2000" b="1" kern="100" dirty="0">
                  <a:solidFill>
                    <a:srgbClr val="005DA2"/>
                  </a:solidFill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论文</a:t>
              </a:r>
              <a:endParaRPr lang="zh-CN" altLang="en-US" sz="2000" b="1" dirty="0">
                <a:solidFill>
                  <a:srgbClr val="005DA2"/>
                </a:solidFill>
                <a:latin typeface="+mj-ea"/>
                <a:ea typeface="+mj-ea"/>
              </a:endParaRPr>
            </a:p>
          </p:txBody>
        </p:sp>
        <p:sp>
          <p:nvSpPr>
            <p:cNvPr id="268" name="文本框 267"/>
            <p:cNvSpPr txBox="1"/>
            <p:nvPr/>
          </p:nvSpPr>
          <p:spPr>
            <a:xfrm>
              <a:off x="4976946" y="1425359"/>
              <a:ext cx="11294110" cy="455168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[1] </a:t>
              </a:r>
              <a:r>
                <a:rPr lang="zh-CN" altLang="en-US" sz="1600" b="1" u="sng" dirty="0">
                  <a:solidFill>
                    <a:srgbClr val="005DA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Guilong Lu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, Xiaolin Ju*, Xiang Chen* , et al. 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[APSEC 2023_CCF-C] </a:t>
              </a:r>
              <a:endPara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Assessing the Effectiveness of Vulnerability Detection via Prompt Tuning: An Empirical Study </a:t>
              </a:r>
            </a:p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 </a:t>
              </a:r>
              <a:r>
                <a:rPr lang="zh-CN" altLang="en-US" sz="1600" b="1" u="sng" dirty="0">
                  <a:solidFill>
                    <a:srgbClr val="005DA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Guilong Lu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Xiaolin Ju*, Xiang Chen 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, 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 al. 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JSS 2024_CCF-B &amp; JCR-Q2] </a:t>
              </a:r>
              <a:endPara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GRACE: Empowering LLM-based Software Vulnerability Detection with Graph Structure and In-context Learning.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[3] </a:t>
              </a:r>
              <a:r>
                <a:rPr lang="en-US" altLang="zh-CN" sz="1600" b="1" u="sng" dirty="0" err="1">
                  <a:solidFill>
                    <a:srgbClr val="005DA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Guilong</a:t>
              </a:r>
              <a:r>
                <a:rPr lang="en-US" altLang="zh-CN" sz="1600" b="1" u="sng" dirty="0">
                  <a:solidFill>
                    <a:srgbClr val="005DA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Lu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, </a:t>
              </a:r>
              <a:r>
                <a:rPr lang="en-US" altLang="zh-CN" sz="16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Xuntao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Guo, </a:t>
              </a:r>
              <a:r>
                <a:rPr lang="en-US" altLang="zh-CN" sz="16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Rongjuncheng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Zhang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et al. 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[NeurIPS2025 under review _ CCF-A] </a:t>
              </a:r>
              <a:endPara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BizFinBench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: A Business-Driven Real-World Financial Benchmark for Evaluating LLMs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[4] 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Liping Wang</a:t>
              </a:r>
              <a:r>
                <a:rPr lang="en-US" altLang="zh-CN" sz="16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1600" b="1" u="sng" dirty="0" err="1">
                  <a:solidFill>
                    <a:srgbClr val="005DA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Guilong</a:t>
              </a:r>
              <a:r>
                <a:rPr lang="en-US" altLang="zh-CN" sz="1600" b="1" u="sng" dirty="0">
                  <a:solidFill>
                    <a:srgbClr val="005DA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Lu</a:t>
              </a:r>
              <a:r>
                <a:rPr lang="en-US" altLang="zh-CN" sz="1600" b="1" u="sng" baseline="30000" dirty="0">
                  <a:solidFill>
                    <a:srgbClr val="005DA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Xiang Chen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*, 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 al. 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共同一作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ASEJ 2024_CCF-B &amp; JCR-Q2] </a:t>
              </a:r>
              <a:endPara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SIFT: Enhance the performance of vulnerability detection by incorporating structural knowledge and multi-task learning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[5] 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Zhilong Cai, Yongwei Cai, Xiang Chen*, </a:t>
              </a:r>
              <a:r>
                <a:rPr lang="zh-CN" altLang="en-US" sz="1600" b="1" u="sng" dirty="0">
                  <a:solidFill>
                    <a:srgbClr val="005DA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Guilong Lu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,  et al. 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JSS 2024_CCF-B &amp; JCR-Q2] </a:t>
              </a:r>
              <a:endPara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CSVD-TF: Cross-project Software Vulnerability Detection with TrAdaBoost by Fusing Expert Metrics and Semantic Metrics.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[6] 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Wenlong Pei, Yilin Huang, Xiang Chen*, </a:t>
              </a:r>
              <a:r>
                <a:rPr lang="en-US" altLang="zh-CN" sz="1600" b="1" u="sng" dirty="0" err="1">
                  <a:solidFill>
                    <a:srgbClr val="005DA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Guilong</a:t>
              </a:r>
              <a:r>
                <a:rPr lang="en-US" altLang="zh-CN" sz="1600" b="1" u="sng" dirty="0">
                  <a:solidFill>
                    <a:srgbClr val="005DA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Lu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, 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et al. 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ASEJ 2024_CCF-B &amp; JCR-Q2] </a:t>
              </a:r>
              <a:endPara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SURF: Semi-Supervised Software Vulnerability Assessment via Code Lexical and Structural Information Fusion.</a:t>
              </a:r>
              <a:endPara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[7] </a:t>
              </a:r>
              <a:r>
                <a:rPr lang="en-US" altLang="zh-CN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Xiangyu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Shi, Xiaolin Ju*, Xiang Chen, </a:t>
              </a:r>
              <a:r>
                <a:rPr lang="en-US" altLang="zh-CN" sz="1600" b="1" u="sng" dirty="0" err="1">
                  <a:solidFill>
                    <a:srgbClr val="005DA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Guilong</a:t>
              </a:r>
              <a:r>
                <a:rPr lang="en-US" altLang="zh-CN" sz="1600" b="1" u="sng" dirty="0">
                  <a:solidFill>
                    <a:srgbClr val="005DA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Lu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, et al. 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[QRS 2023_CCF-C] </a:t>
              </a:r>
              <a:endPara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en-US" altLang="zh-CN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SemirFL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Boosting Fault Localization via Combining Semantic Information and Information Retrieval</a:t>
              </a:r>
              <a:br>
                <a:rPr lang="en-US" altLang="zh-CN" sz="1600" dirty="0"/>
              </a:b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图片 2" descr="contra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810" y="501000"/>
            <a:ext cx="1123950" cy="1123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已有成果</a:t>
            </a:r>
          </a:p>
        </p:txBody>
      </p:sp>
      <p:grpSp>
        <p:nvGrpSpPr>
          <p:cNvPr id="273" name="组合 272"/>
          <p:cNvGrpSpPr/>
          <p:nvPr/>
        </p:nvGrpSpPr>
        <p:grpSpPr>
          <a:xfrm>
            <a:off x="158868" y="1069378"/>
            <a:ext cx="12393177" cy="2306955"/>
            <a:chOff x="6317431" y="869448"/>
            <a:chExt cx="12393177" cy="2306955"/>
          </a:xfrm>
        </p:grpSpPr>
        <p:sp>
          <p:nvSpPr>
            <p:cNvPr id="274" name="文本框 273"/>
            <p:cNvSpPr txBox="1"/>
            <p:nvPr/>
          </p:nvSpPr>
          <p:spPr>
            <a:xfrm>
              <a:off x="6317431" y="1344672"/>
              <a:ext cx="344198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2000" b="1" kern="100" dirty="0">
                  <a:solidFill>
                    <a:srgbClr val="005DA2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专利</a:t>
              </a:r>
              <a:endParaRPr lang="zh-CN" altLang="en-US" sz="2000" b="1" dirty="0">
                <a:solidFill>
                  <a:srgbClr val="005DA2"/>
                </a:solidFill>
                <a:latin typeface="+mj-ea"/>
                <a:ea typeface="+mj-ea"/>
              </a:endParaRPr>
            </a:p>
          </p:txBody>
        </p:sp>
        <p:sp>
          <p:nvSpPr>
            <p:cNvPr id="275" name="文本框 274"/>
            <p:cNvSpPr txBox="1"/>
            <p:nvPr/>
          </p:nvSpPr>
          <p:spPr>
            <a:xfrm>
              <a:off x="7566358" y="869448"/>
              <a:ext cx="11144250" cy="23069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（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陆桂龙、鞠小林、陈翔等人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）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一种融合多维度特征的自动定位安全补丁方法（实审）公开号CN115729741A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（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陆桂龙、鞠小林、陈翔等人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）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一种使用CodeT5模型和提示微调的源代码漏洞预测方法（实审）公开号CN116910760A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（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陆桂龙、鞠小林、陈翔等人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）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一种改进的基于大语言模型的漏洞检测方法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（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实审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）公开号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CN117494131A</a:t>
              </a:r>
              <a:endPara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（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陆桂龙、鞠小林、陈翔等人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）</a:t>
              </a:r>
              <a:r>
                <a:rPr lang="zh-CN" altLang="en-US" sz="1600" b="0" i="0" dirty="0">
                  <a:effectLst/>
                  <a:latin typeface="Optima-Regular"/>
                </a:rPr>
                <a:t>一种基于漏洞原因描述和指令微调的软件漏洞检测方法 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（实审）公开号</a:t>
              </a:r>
              <a:r>
                <a:rPr lang="en-US" altLang="zh-CN" sz="1600" b="0" i="0" dirty="0">
                  <a:effectLst/>
                  <a:latin typeface="Optima-Regular"/>
                </a:rPr>
                <a:t> </a:t>
              </a:r>
              <a:r>
                <a:rPr lang="en-US" altLang="zh-CN" sz="1600" b="0" i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CN118364470A</a:t>
              </a:r>
              <a:br>
                <a:rPr lang="zh-CN" altLang="en-US" sz="1600" dirty="0"/>
              </a:b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（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陆桂龙、鞠小林、陈翔等人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）</a:t>
              </a:r>
              <a:r>
                <a:rPr lang="zh-CN" altLang="en-US" sz="1600" b="0" i="0" dirty="0">
                  <a:effectLst/>
                  <a:latin typeface="Optima-Regular"/>
                </a:rPr>
                <a:t>一种基于代码结构知识微调的源代码漏洞检测方法 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（实审）公开号</a:t>
              </a:r>
              <a:r>
                <a:rPr lang="en-US" altLang="zh-CN" sz="1600" b="0" i="0" dirty="0">
                  <a:effectLst/>
                  <a:latin typeface="Optima-Regular"/>
                </a:rPr>
                <a:t> </a:t>
              </a:r>
              <a:r>
                <a:rPr lang="en-US" altLang="zh-CN" sz="1600" b="0" i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CN118312438A</a:t>
              </a:r>
              <a:endPara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58868" y="3429000"/>
            <a:ext cx="112636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1" kern="100" dirty="0">
                <a:solidFill>
                  <a:srgbClr val="005DA2"/>
                </a:solidFill>
                <a:latin typeface="+mj-ea"/>
                <a:ea typeface="+mj-ea"/>
                <a:cs typeface="Times New Roman" panose="02020603050405020304" pitchFamily="18" charset="0"/>
              </a:rPr>
              <a:t>竞赛</a:t>
            </a:r>
          </a:p>
        </p:txBody>
      </p:sp>
      <p:pic>
        <p:nvPicPr>
          <p:cNvPr id="4" name="图片 3" descr="certific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660" y="1979706"/>
            <a:ext cx="925344" cy="925344"/>
          </a:xfrm>
          <a:prstGeom prst="rect">
            <a:avLst/>
          </a:prstGeom>
        </p:spPr>
      </p:pic>
      <p:pic>
        <p:nvPicPr>
          <p:cNvPr id="5" name="图片 4" descr="competi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887" y="3862774"/>
            <a:ext cx="845820" cy="8458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887" y="5548226"/>
            <a:ext cx="845820" cy="84582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58868" y="5090322"/>
            <a:ext cx="11263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1" kern="100" dirty="0">
                <a:solidFill>
                  <a:srgbClr val="005DA2"/>
                </a:solidFill>
                <a:latin typeface="+mj-ea"/>
                <a:ea typeface="+mj-ea"/>
                <a:cs typeface="Times New Roman" panose="02020603050405020304" pitchFamily="18" charset="0"/>
              </a:rPr>
              <a:t>奖项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554599" y="3190828"/>
            <a:ext cx="10007301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[1] 2023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华为杯第五届中国研究生人工智能创新大赛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全国二等奖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；（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类竞赛）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[2] 2023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第九届中国研究生智慧城市技术与创意设计大赛、全国二等奖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；（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类竞赛）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[3] 2023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南通大学研究生网络安全创新大赛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南通大学一等奖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；（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类竞赛）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[4] 2024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华为杯第二十届中国研究生数学建模竞赛、全国二等奖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；（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类竞赛）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[5] 2025 </a:t>
            </a:r>
            <a:r>
              <a:rPr lang="zh-CN" altLang="en-US" sz="1600" b="0" i="0" dirty="0">
                <a:effectLst/>
                <a:latin typeface="Optima-Regular"/>
              </a:rPr>
              <a:t>中国高校计算机大赛 网络技术挑战赛 华东赛区二等奖（</a:t>
            </a:r>
            <a:r>
              <a:rPr lang="en-US" altLang="zh-CN" sz="1600" b="0" i="0" dirty="0">
                <a:effectLst/>
                <a:latin typeface="黑体" panose="02010609060101010101" charset="-122"/>
                <a:ea typeface="黑体" panose="02010609060101010101" charset="-122"/>
              </a:rPr>
              <a:t>*2</a:t>
            </a:r>
            <a:r>
              <a:rPr lang="zh-CN" altLang="en-US" sz="1600" b="0" i="0" dirty="0">
                <a:effectLst/>
                <a:latin typeface="Optima-Regular"/>
              </a:rPr>
              <a:t>）；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类竞赛）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54599" y="5394924"/>
            <a:ext cx="9644791" cy="78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2023-2024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学年度：国家奖学金，研究生一等学业奖学金，校优秀毕业生，学习之星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2022-2023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学年度：研究生一等学业奖学金，优秀研究生，优秀研究生干部，百度最佳贡献奖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2"/>
          <p:cNvSpPr txBox="1"/>
          <p:nvPr/>
        </p:nvSpPr>
        <p:spPr>
          <a:xfrm>
            <a:off x="5942221" y="3626512"/>
            <a:ext cx="2073639" cy="2092877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12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lang="zh-CN" altLang="en-US" sz="128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38"/>
          <p:cNvSpPr txBox="1"/>
          <p:nvPr/>
        </p:nvSpPr>
        <p:spPr>
          <a:xfrm>
            <a:off x="8081014" y="4281855"/>
            <a:ext cx="1349081" cy="784826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43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致谢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4959350" y="1141226"/>
            <a:ext cx="22733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致谢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47191" y="1890630"/>
            <a:ext cx="6802418" cy="3076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000" dirty="0"/>
              <a:t>感谢母校提供了宝贵的学习与实践的机会!</a:t>
            </a:r>
            <a:endParaRPr lang="en-US" altLang="zh-CN" sz="2000" dirty="0"/>
          </a:p>
          <a:p>
            <a:pPr algn="ctr">
              <a:lnSpc>
                <a:spcPct val="200000"/>
              </a:lnSpc>
            </a:pPr>
            <a:r>
              <a:rPr lang="zh-CN" altLang="en-US" sz="2000" dirty="0"/>
              <a:t>感谢</a:t>
            </a:r>
            <a:r>
              <a:rPr lang="en-US" altLang="zh-CN" sz="2000" dirty="0"/>
              <a:t>NTU ISE</a:t>
            </a:r>
            <a:r>
              <a:rPr lang="zh-CN" altLang="en-US" sz="2000" dirty="0"/>
              <a:t>研究组!</a:t>
            </a:r>
            <a:endParaRPr lang="en-US" altLang="zh-CN" sz="2000" dirty="0"/>
          </a:p>
          <a:p>
            <a:pPr algn="ctr">
              <a:lnSpc>
                <a:spcPct val="200000"/>
              </a:lnSpc>
            </a:pPr>
            <a:r>
              <a:rPr lang="zh-CN" altLang="en-US" sz="2000" dirty="0"/>
              <a:t>感谢陈亮导师、鞠小林导师、陈翔导师给与的耐心指导!</a:t>
            </a:r>
            <a:endParaRPr lang="en-US" altLang="zh-CN" sz="2000" dirty="0"/>
          </a:p>
          <a:p>
            <a:pPr algn="ctr">
              <a:lnSpc>
                <a:spcPct val="200000"/>
              </a:lnSpc>
            </a:pPr>
            <a:r>
              <a:rPr lang="zh-CN" altLang="en-US" sz="2000" dirty="0"/>
              <a:t>感谢同学的支持与帮助!</a:t>
            </a:r>
            <a:endParaRPr lang="en-US" altLang="zh-CN" sz="2000" dirty="0"/>
          </a:p>
          <a:p>
            <a:pPr algn="ctr">
              <a:lnSpc>
                <a:spcPct val="200000"/>
              </a:lnSpc>
            </a:pPr>
            <a:r>
              <a:rPr lang="zh-CN" altLang="en-US" sz="2000" dirty="0"/>
              <a:t>感谢各位答辩评审!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9609" y="4831080"/>
            <a:ext cx="1043492" cy="10434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8"/>
          <p:cNvSpPr txBox="1"/>
          <p:nvPr/>
        </p:nvSpPr>
        <p:spPr>
          <a:xfrm>
            <a:off x="6830699" y="3749090"/>
            <a:ext cx="4065270" cy="782320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43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感谢各位老师！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2.0.50727.8662"/>
  <p:tag name="AS_OS" val="Microsoft Windows NT 6.2.9200.0"/>
  <p:tag name="AS_RELEASE_DATE" val="2018.07.12"/>
  <p:tag name="AS_TITLE" val="Aspose.Slides for .NET 2.0"/>
  <p:tag name="AS_VERSION" val="18.7"/>
  <p:tag name="COMMONDATA" val="eyJoZGlkIjoiZmU4YzRkODYwZDE5ZGRiMTk0M2NjYTdjY2E1MjZlZW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7543307086614,&quot;left&quot;:547.7264566929134,&quot;top&quot;:181.0604724409449,&quot;width&quot;:345.44472440944884}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自定义 2506">
      <a:dk1>
        <a:sysClr val="windowText" lastClr="000000"/>
      </a:dk1>
      <a:lt1>
        <a:sysClr val="window" lastClr="FFFFFF"/>
      </a:lt1>
      <a:dk2>
        <a:srgbClr val="293764"/>
      </a:dk2>
      <a:lt2>
        <a:srgbClr val="4A70AE"/>
      </a:lt2>
      <a:accent1>
        <a:srgbClr val="4A70AE"/>
      </a:accent1>
      <a:accent2>
        <a:srgbClr val="293764"/>
      </a:accent2>
      <a:accent3>
        <a:srgbClr val="4A70AE"/>
      </a:accent3>
      <a:accent4>
        <a:srgbClr val="293764"/>
      </a:accent4>
      <a:accent5>
        <a:srgbClr val="4A70AE"/>
      </a:accent5>
      <a:accent6>
        <a:srgbClr val="293764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TM10001106[[fn=徽章]]</Template>
  <TotalTime>40</TotalTime>
  <Words>2099</Words>
  <Application>Microsoft Office PowerPoint</Application>
  <PresentationFormat>宽屏</PresentationFormat>
  <Paragraphs>607</Paragraphs>
  <Slides>25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Optima-Regular</vt:lpstr>
      <vt:lpstr>黑体</vt:lpstr>
      <vt:lpstr>宋体</vt:lpstr>
      <vt:lpstr>微软雅黑</vt:lpstr>
      <vt:lpstr>Arial</vt:lpstr>
      <vt:lpstr>Arial Black</vt:lpstr>
      <vt:lpstr>Calibri</vt:lpstr>
      <vt:lpstr>Cambria Math</vt:lpstr>
      <vt:lpstr>Impact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研究背景</vt:lpstr>
      <vt:lpstr>国内外研究现状</vt:lpstr>
      <vt:lpstr>相关工作存在的不足</vt:lpstr>
      <vt:lpstr>PowerPoint 演示文稿</vt:lpstr>
      <vt:lpstr>课题研究内容</vt:lpstr>
      <vt:lpstr>数据集构建与处理</vt:lpstr>
      <vt:lpstr>基准方法与评估指标</vt:lpstr>
      <vt:lpstr>主要贡献与创新</vt:lpstr>
      <vt:lpstr>课题研究方案——方法一框架</vt:lpstr>
      <vt:lpstr>实验问题设置与结果</vt:lpstr>
      <vt:lpstr>课题研究方案——方法二框架</vt:lpstr>
      <vt:lpstr>实验问题设置与结果</vt:lpstr>
      <vt:lpstr>课题研究方案——方法三框架</vt:lpstr>
      <vt:lpstr>实验问题设置与结果</vt:lpstr>
      <vt:lpstr>PowerPoint 演示文稿</vt:lpstr>
      <vt:lpstr>系统展示</vt:lpstr>
      <vt:lpstr>PowerPoint 演示文稿</vt:lpstr>
      <vt:lpstr>已有成果</vt:lpstr>
      <vt:lpstr>已有成果</vt:lpstr>
      <vt:lpstr>PowerPoint 演示文稿</vt:lpstr>
      <vt:lpstr>致谢 </vt:lpstr>
      <vt:lpstr>PowerPoint 演示文稿</vt:lpstr>
    </vt:vector>
  </TitlesOfParts>
  <Manager> </Manager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蓝色简约风几何工作计划总结PPT模板</dc:title>
  <dc:subject> </dc:subject>
  <dc:creator>极简办公</dc:creator>
  <cp:keywords>www.jjppt.com</cp:keywords>
  <dc:description>www.jjppt.com</dc:description>
  <cp:lastModifiedBy>桂龙 陆</cp:lastModifiedBy>
  <cp:revision>749</cp:revision>
  <dcterms:created xsi:type="dcterms:W3CDTF">2015-05-05T08:02:00Z</dcterms:created>
  <dcterms:modified xsi:type="dcterms:W3CDTF">2025-05-21T14:28:09Z</dcterms:modified>
  <cp:category> </cp:category>
  <cp:version>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5C792A04B5254E5A9D97C463CCDE9A00_12</vt:lpwstr>
  </property>
</Properties>
</file>